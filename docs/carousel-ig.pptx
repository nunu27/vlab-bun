
<file path=[Content_Types].xml><?xml version="1.0" encoding="utf-8"?>
<Types xmlns="http://schemas.openxmlformats.org/package/2006/content-types">
  <Default Extension="jpeg" ContentType="image/jpeg"/>
  <Default Extension="m4a" ContentType="audio/mp4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73152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289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media" Target="../media/media15.m4a"/><Relationship Id="rId7" Type="http://schemas.openxmlformats.org/officeDocument/2006/relationships/image" Target="../media/image1.png"/><Relationship Id="rId2" Type="http://schemas.openxmlformats.org/officeDocument/2006/relationships/video" Target="../media/media14.mp4"/><Relationship Id="rId1" Type="http://schemas.microsoft.com/office/2007/relationships/media" Target="../media/media14.mp4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15.m4a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media" Target="../media/media17.m4a"/><Relationship Id="rId7" Type="http://schemas.openxmlformats.org/officeDocument/2006/relationships/image" Target="../media/image1.png"/><Relationship Id="rId2" Type="http://schemas.openxmlformats.org/officeDocument/2006/relationships/video" Target="../media/media16.mp4"/><Relationship Id="rId1" Type="http://schemas.microsoft.com/office/2007/relationships/media" Target="../media/media16.mp4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17.m4a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media" Target="../media/media19.m4a"/><Relationship Id="rId7" Type="http://schemas.openxmlformats.org/officeDocument/2006/relationships/image" Target="../media/image1.png"/><Relationship Id="rId2" Type="http://schemas.openxmlformats.org/officeDocument/2006/relationships/video" Target="../media/media18.mp4"/><Relationship Id="rId1" Type="http://schemas.microsoft.com/office/2007/relationships/media" Target="../media/media18.mp4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19.m4a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media" Target="../media/media21.m4a"/><Relationship Id="rId7" Type="http://schemas.openxmlformats.org/officeDocument/2006/relationships/image" Target="../media/image1.png"/><Relationship Id="rId2" Type="http://schemas.openxmlformats.org/officeDocument/2006/relationships/video" Target="../media/media20.mp4"/><Relationship Id="rId1" Type="http://schemas.microsoft.com/office/2007/relationships/media" Target="../media/media20.mp4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1.m4a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media" Target="../media/media23.m4a"/><Relationship Id="rId7" Type="http://schemas.openxmlformats.org/officeDocument/2006/relationships/image" Target="../media/image1.png"/><Relationship Id="rId2" Type="http://schemas.openxmlformats.org/officeDocument/2006/relationships/video" Target="../media/media22.mp4"/><Relationship Id="rId1" Type="http://schemas.microsoft.com/office/2007/relationships/media" Target="../media/media22.mp4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3.m4a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media" Target="../media/media25.mp4"/><Relationship Id="rId7" Type="http://schemas.openxmlformats.org/officeDocument/2006/relationships/slideLayout" Target="../slideLayouts/slideLayout7.xml"/><Relationship Id="rId2" Type="http://schemas.openxmlformats.org/officeDocument/2006/relationships/video" Target="../media/media24.mp4"/><Relationship Id="rId1" Type="http://schemas.microsoft.com/office/2007/relationships/media" Target="../media/media24.mp4"/><Relationship Id="rId6" Type="http://schemas.openxmlformats.org/officeDocument/2006/relationships/audio" Target="../media/media26.m4a"/><Relationship Id="rId5" Type="http://schemas.microsoft.com/office/2007/relationships/media" Target="../media/media26.m4a"/><Relationship Id="rId10" Type="http://schemas.openxmlformats.org/officeDocument/2006/relationships/image" Target="../media/image1.png"/><Relationship Id="rId4" Type="http://schemas.openxmlformats.org/officeDocument/2006/relationships/video" Target="../media/media25.mp4"/><Relationship Id="rId9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7.m4a"/><Relationship Id="rId1" Type="http://schemas.microsoft.com/office/2007/relationships/media" Target="../media/media27.m4a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8.m4a"/><Relationship Id="rId1" Type="http://schemas.microsoft.com/office/2007/relationships/media" Target="../media/media28.m4a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9.m4a"/><Relationship Id="rId1" Type="http://schemas.microsoft.com/office/2007/relationships/media" Target="../media/media29.m4a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0.m4a"/><Relationship Id="rId1" Type="http://schemas.microsoft.com/office/2007/relationships/media" Target="../media/media30.m4a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1.m4a"/><Relationship Id="rId1" Type="http://schemas.microsoft.com/office/2007/relationships/media" Target="../media/media31.m4a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2.m4a"/><Relationship Id="rId1" Type="http://schemas.microsoft.com/office/2007/relationships/media" Target="../media/media32.m4a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3.m4a"/><Relationship Id="rId1" Type="http://schemas.microsoft.com/office/2007/relationships/media" Target="../media/media33.m4a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4.m4a"/><Relationship Id="rId1" Type="http://schemas.microsoft.com/office/2007/relationships/media" Target="../media/media34.m4a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5.m4a"/><Relationship Id="rId1" Type="http://schemas.microsoft.com/office/2007/relationships/media" Target="../media/media35.m4a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6.m4a"/><Relationship Id="rId1" Type="http://schemas.microsoft.com/office/2007/relationships/media" Target="../media/media36.m4a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7.m4a"/><Relationship Id="rId1" Type="http://schemas.microsoft.com/office/2007/relationships/media" Target="../media/media37.m4a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8.m4a"/><Relationship Id="rId1" Type="http://schemas.microsoft.com/office/2007/relationships/media" Target="../media/media38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64008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6309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60A5FA"/>
                </a:solidFill>
                <a:latin typeface="Inter"/>
              </a:rPr>
              <a:t>vLab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630936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E6EDF3"/>
                </a:solidFill>
                <a:latin typeface="Inter"/>
              </a:rPr>
              <a:t>Pengembangan Virtual Lab Daring Berbasis Docker dengan Evaluasi Otomatis untuk Pembelajaran Konsep Jaringan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160520"/>
            <a:ext cx="6309360" cy="12344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315968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DF3"/>
                </a:solidFill>
                <a:latin typeface="Inter"/>
              </a:rPr>
              <a:t>Wisnu Agung Pambudi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1772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0A5FA"/>
                </a:solidFill>
                <a:latin typeface="JetBrains Mono"/>
              </a:rPr>
              <a:t>NRP 3122600048 · Teknik Informatika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3776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49E"/>
                </a:solidFill>
                <a:latin typeface="Inter"/>
              </a:rPr>
              <a:t>Pembimbing: Dr. Idris Winarno, S.ST., M.Kom. · Fitri Setyorini, S.T., M.Sc.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“Perkenalkan, vLab, platform laboratorium jaringan virtual yang dikembangkan sebagai penelitian Tugas Akhir ini.”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1/31</a:t>
            </a:r>
          </a:p>
        </p:txBody>
      </p:sp>
      <p:pic>
        <p:nvPicPr>
          <p:cNvPr id="23" name="Audio 22">
            <a:hlinkClick r:id="" action="ppaction://media"/>
            <a:extLst>
              <a:ext uri="{FF2B5EF4-FFF2-40B4-BE49-F238E27FC236}">
                <a16:creationId xmlns:a16="http://schemas.microsoft.com/office/drawing/2014/main" id="{F69399DF-DE68-2BC3-3EA3-D274633D4B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26"/>
    </mc:Choice>
    <mc:Fallback>
      <p:transition spd="slow" advTm="37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BF24"/>
                </a:solidFill>
                <a:latin typeface="JetBrains Mono"/>
              </a:rPr>
              <a:t>01 ·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6EDF3"/>
                </a:solidFill>
                <a:latin typeface="Inter"/>
              </a:rPr>
              <a:t>Ada Kesenjangan</a:t>
            </a:r>
          </a:p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6EDF3"/>
                </a:solidFill>
                <a:latin typeface="Inter"/>
              </a:rPr>
              <a:t>Antara Kelas dan Industri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6309360" cy="11887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478024"/>
            <a:ext cx="5852160" cy="653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BBF24"/>
                </a:solidFill>
                <a:latin typeface="Inter"/>
              </a:rPr>
              <a:t>39%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21177"/>
            <a:ext cx="5852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49E"/>
                </a:solidFill>
                <a:latin typeface="Inter"/>
              </a:rPr>
              <a:t>perusahaan sulit merekrut talenta jaringan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49E"/>
                </a:solidFill>
                <a:latin typeface="Inter"/>
              </a:rPr>
              <a:t>(Enterprise Horizons, 2025)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03320"/>
            <a:ext cx="6309360" cy="11887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849624"/>
            <a:ext cx="5852160" cy="653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6E7681"/>
                </a:solidFill>
                <a:latin typeface="Inter"/>
              </a:rPr>
              <a:t>#2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92777"/>
            <a:ext cx="5852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E7681"/>
                </a:solidFill>
                <a:latin typeface="Inter"/>
              </a:rPr>
              <a:t>Jaringan dan Keamanan Siber: keahlian dengan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E7681"/>
                </a:solidFill>
                <a:latin typeface="Inter"/>
              </a:rPr>
              <a:t>permintaan tumbuh tercepat 2025-2030 (WEF)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074920"/>
            <a:ext cx="6309360" cy="11887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5221224"/>
            <a:ext cx="5852160" cy="653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6E7681"/>
                </a:solidFill>
                <a:latin typeface="Inter"/>
              </a:rPr>
              <a:t>#1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4377"/>
            <a:ext cx="5852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E7681"/>
                </a:solidFill>
                <a:latin typeface="Inter"/>
              </a:rPr>
              <a:t>Indonesia: salah satu pasar MikroTik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E7681"/>
                </a:solidFill>
                <a:latin typeface="Inter"/>
              </a:rPr>
              <a:t>terbesar di dunia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“Permasalahan yang melatarbelakangi penelitian ini: 39% perusahaan kesulitan merekrut talenta jaringan akibat kurangnya pengalaman praktis.”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2/31</a:t>
            </a:r>
          </a:p>
        </p:txBody>
      </p:sp>
      <p:pic>
        <p:nvPicPr>
          <p:cNvPr id="25" name="Audio 24">
            <a:hlinkClick r:id="" action="ppaction://media"/>
            <a:extLst>
              <a:ext uri="{FF2B5EF4-FFF2-40B4-BE49-F238E27FC236}">
                <a16:creationId xmlns:a16="http://schemas.microsoft.com/office/drawing/2014/main" id="{280AD28A-FA21-16BE-20E5-635E12964B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81"/>
    </mc:Choice>
    <mc:Fallback>
      <p:transition spd="slow" advTm="54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BF24"/>
                </a:solidFill>
                <a:latin typeface="JetBrains Mono"/>
              </a:rPr>
              <a:t>01 ·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6EDF3"/>
                </a:solidFill>
                <a:latin typeface="Inter"/>
              </a:rPr>
              <a:t>Ada Kesenjangan</a:t>
            </a:r>
          </a:p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6EDF3"/>
                </a:solidFill>
                <a:latin typeface="Inter"/>
              </a:rPr>
              <a:t>Antara Kelas dan Industri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6309360" cy="11887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478024"/>
            <a:ext cx="5852160" cy="653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6E7681"/>
                </a:solidFill>
                <a:latin typeface="Inter"/>
              </a:rPr>
              <a:t>39%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21177"/>
            <a:ext cx="5852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E7681"/>
                </a:solidFill>
                <a:latin typeface="Inter"/>
              </a:rPr>
              <a:t>perusahaan sulit merekrut talenta jaringan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E7681"/>
                </a:solidFill>
                <a:latin typeface="Inter"/>
              </a:rPr>
              <a:t>(Enterprise Horizons, 2025)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03320"/>
            <a:ext cx="6309360" cy="11887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849624"/>
            <a:ext cx="5852160" cy="653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60A5FA"/>
                </a:solidFill>
                <a:latin typeface="Inter"/>
              </a:rPr>
              <a:t>#2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92777"/>
            <a:ext cx="5852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49E"/>
                </a:solidFill>
                <a:latin typeface="Inter"/>
              </a:rPr>
              <a:t>Jaringan dan Keamanan Siber: keahlian dengan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49E"/>
                </a:solidFill>
                <a:latin typeface="Inter"/>
              </a:rPr>
              <a:t>permintaan tumbuh tercepat 2025-2030 (WEF)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074920"/>
            <a:ext cx="6309360" cy="11887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5221224"/>
            <a:ext cx="5852160" cy="653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A78BFA"/>
                </a:solidFill>
                <a:latin typeface="Inter"/>
              </a:rPr>
              <a:t>#1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4377"/>
            <a:ext cx="5852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49E"/>
                </a:solidFill>
                <a:latin typeface="Inter"/>
              </a:rPr>
              <a:t>Indonesia: salah satu pasar MikroTik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49E"/>
                </a:solidFill>
                <a:latin typeface="Inter"/>
              </a:rPr>
              <a:t>terbesar di dunia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“Sementara itu, permintaan terhadap keahlian ini terus meningkat, terlebih di Indonesia yang merupakan salah satu pasar MikroTik terbesar di dunia.”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3/31</a:t>
            </a:r>
          </a:p>
        </p:txBody>
      </p:sp>
      <p:pic>
        <p:nvPicPr>
          <p:cNvPr id="23" name="Audio 22">
            <a:hlinkClick r:id="" action="ppaction://media"/>
            <a:extLst>
              <a:ext uri="{FF2B5EF4-FFF2-40B4-BE49-F238E27FC236}">
                <a16:creationId xmlns:a16="http://schemas.microsoft.com/office/drawing/2014/main" id="{5A4E8FA2-0FDE-EAF9-8B42-1C1D23F5A9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32"/>
    </mc:Choice>
    <mc:Fallback>
      <p:transition spd="slow" advTm="57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BF24"/>
                </a:solidFill>
                <a:latin typeface="JetBrains Mono"/>
              </a:rPr>
              <a:t>02 · PERMASALAHAN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6EDF3"/>
                </a:solidFill>
                <a:latin typeface="Inter"/>
              </a:rPr>
              <a:t>Apa yang Belum Terjawab?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029968"/>
            <a:ext cx="128016" cy="106070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6EDF3"/>
                </a:solidFill>
                <a:latin typeface="Inter"/>
              </a:rPr>
              <a:t>Lab Fisik Mahal dan Terbatas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B949E"/>
                </a:solidFill>
                <a:latin typeface="Inter"/>
              </a:rPr>
              <a:t>Biaya investasi dan pemeliharaan tinggi serta skalabilitas rendah membatasi akses dan fleksibilitas peserta didik.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29000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3630168"/>
            <a:ext cx="128016" cy="1060704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6118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6E7681"/>
                </a:solidFill>
                <a:latin typeface="Inter"/>
              </a:rPr>
              <a:t>Evaluasi Manual Tidak Efisien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95928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E7681"/>
                </a:solidFill>
                <a:latin typeface="Inter"/>
              </a:rPr>
              <a:t>Instruktur memerlukan waktu dan usaha yang signifikan untuk menyiapkan skenario lab, serta melakukan penilaian manual yang lambat.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029200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5230368"/>
            <a:ext cx="128016" cy="1060704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52120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6E7681"/>
                </a:solidFill>
                <a:latin typeface="Inter"/>
              </a:rPr>
              <a:t>Simulator Terkunci Vendor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596128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E7681"/>
                </a:solidFill>
                <a:latin typeface="Inter"/>
              </a:rPr>
              <a:t>Alat seperti Cisco Packet Tracer bersifat proprietary, tidak mendukung MikroTik, dan kurang realistis.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“Masalah pertama: laboratorium fisik membutuhkan investasi dan pemeliharaan tinggi, dengan skalabilitas yang rendah.”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4/31</a:t>
            </a:r>
          </a:p>
        </p:txBody>
      </p:sp>
      <p:pic>
        <p:nvPicPr>
          <p:cNvPr id="26" name="Audio 25">
            <a:hlinkClick r:id="" action="ppaction://media"/>
            <a:extLst>
              <a:ext uri="{FF2B5EF4-FFF2-40B4-BE49-F238E27FC236}">
                <a16:creationId xmlns:a16="http://schemas.microsoft.com/office/drawing/2014/main" id="{07BD1823-7407-0E57-10A3-BF52E6B7380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29"/>
    </mc:Choice>
    <mc:Fallback>
      <p:transition spd="slow" advTm="49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BF24"/>
                </a:solidFill>
                <a:latin typeface="JetBrains Mono"/>
              </a:rPr>
              <a:t>02 · PERMASALAHAN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6EDF3"/>
                </a:solidFill>
                <a:latin typeface="Inter"/>
              </a:rPr>
              <a:t>Apa yang Belum Terjawab?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029968"/>
            <a:ext cx="128016" cy="1060704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6E7681"/>
                </a:solidFill>
                <a:latin typeface="Inter"/>
              </a:rPr>
              <a:t>Lab Fisik Mahal dan Terbatas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E7681"/>
                </a:solidFill>
                <a:latin typeface="Inter"/>
              </a:rPr>
              <a:t>Biaya investasi dan pemeliharaan tinggi serta skalabilitas rendah membatasi akses dan fleksibilitas peserta didik.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29000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3630168"/>
            <a:ext cx="128016" cy="106070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6118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6EDF3"/>
                </a:solidFill>
                <a:latin typeface="Inter"/>
              </a:rPr>
              <a:t>Evaluasi Manual Tidak Efisien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95928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B949E"/>
                </a:solidFill>
                <a:latin typeface="Inter"/>
              </a:rPr>
              <a:t>Instruktur memerlukan waktu dan usaha yang signifikan untuk menyiapkan skenario lab, serta melakukan penilaian manual yang lambat.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029200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5230368"/>
            <a:ext cx="128016" cy="1060704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52120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6E7681"/>
                </a:solidFill>
                <a:latin typeface="Inter"/>
              </a:rPr>
              <a:t>Simulator Terkunci Vendor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596128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E7681"/>
                </a:solidFill>
                <a:latin typeface="Inter"/>
              </a:rPr>
              <a:t>Alat seperti Cisco Packet Tracer bersifat proprietary, tidak mendukung MikroTik, dan kurang realistis.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“Kedua, instruktur memerlukan waktu dan usaha yang signifikan untuk menyiapkan skenario lab, sementara evaluasi manual berjalan lambat.”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5/31</a:t>
            </a:r>
          </a:p>
        </p:txBody>
      </p:sp>
      <p:pic>
        <p:nvPicPr>
          <p:cNvPr id="26" name="Audio 25">
            <a:hlinkClick r:id="" action="ppaction://media"/>
            <a:extLst>
              <a:ext uri="{FF2B5EF4-FFF2-40B4-BE49-F238E27FC236}">
                <a16:creationId xmlns:a16="http://schemas.microsoft.com/office/drawing/2014/main" id="{D82E75DF-FAE3-50FD-9900-0661A1515EC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241"/>
    </mc:Choice>
    <mc:Fallback>
      <p:transition spd="slow" advTm="52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BF24"/>
                </a:solidFill>
                <a:latin typeface="JetBrains Mono"/>
              </a:rPr>
              <a:t>02 · PERMASALAHAN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6EDF3"/>
                </a:solidFill>
                <a:latin typeface="Inter"/>
              </a:rPr>
              <a:t>Apa yang Belum Terjawab?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029968"/>
            <a:ext cx="128016" cy="1060704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6E7681"/>
                </a:solidFill>
                <a:latin typeface="Inter"/>
              </a:rPr>
              <a:t>Lab Fisik Mahal dan Terbatas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E7681"/>
                </a:solidFill>
                <a:latin typeface="Inter"/>
              </a:rPr>
              <a:t>Biaya investasi dan pemeliharaan tinggi serta skalabilitas rendah membatasi akses dan fleksibilitas peserta didik.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29000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3630168"/>
            <a:ext cx="128016" cy="1060704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6118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6E7681"/>
                </a:solidFill>
                <a:latin typeface="Inter"/>
              </a:rPr>
              <a:t>Evaluasi Manual Tidak Efisien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95928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E7681"/>
                </a:solidFill>
                <a:latin typeface="Inter"/>
              </a:rPr>
              <a:t>Instruktur memerlukan waktu dan usaha yang signifikan untuk menyiapkan skenario lab, serta melakukan penilaian manual yang lambat.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029200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5230368"/>
            <a:ext cx="128016" cy="106070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52120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6EDF3"/>
                </a:solidFill>
                <a:latin typeface="Inter"/>
              </a:rPr>
              <a:t>Simulator Terkunci Vendor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596128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B949E"/>
                </a:solidFill>
                <a:latin typeface="Inter"/>
              </a:rPr>
              <a:t>Alat seperti Cisco Packet Tracer bersifat proprietary, tidak mendukung MikroTik, dan kurang realistis.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“Ketiga, simulator seperti Cisco Packet Tracer bersifat proprietary dan tidak mendukung MikroTik.”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6/31</a:t>
            </a:r>
          </a:p>
        </p:txBody>
      </p:sp>
      <p:pic>
        <p:nvPicPr>
          <p:cNvPr id="26" name="Audio 25">
            <a:hlinkClick r:id="" action="ppaction://media"/>
            <a:extLst>
              <a:ext uri="{FF2B5EF4-FFF2-40B4-BE49-F238E27FC236}">
                <a16:creationId xmlns:a16="http://schemas.microsoft.com/office/drawing/2014/main" id="{A8C7B556-EB92-C57D-75A8-9B894310B6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14"/>
    </mc:Choice>
    <mc:Fallback>
      <p:transition spd="slow" advTm="33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JetBrains Mono"/>
              </a:rPr>
              <a:t>03 · SOLUSI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EDF3"/>
                </a:solidFill>
                <a:latin typeface="Inter"/>
              </a:rPr>
              <a:t>Solusinya: vLab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630936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975104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6EDF3"/>
                </a:solidFill>
                <a:latin typeface="Inter"/>
              </a:rPr>
              <a:t>Perangkat Asli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40864"/>
            <a:ext cx="5532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B949E"/>
                </a:solidFill>
                <a:latin typeface="Inter"/>
              </a:rPr>
              <a:t>Berjalan di atas Containerlab yang multi-vendor; fokus awal pada MikroTik RouterOS dan Linux sungguhan, bukan simulasi.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08960"/>
            <a:ext cx="630936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6E7681"/>
                </a:solidFill>
                <a:latin typeface="Inter"/>
              </a:rPr>
              <a:t>Editor Topologi 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621024"/>
            <a:ext cx="5532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7681"/>
                </a:solidFill>
                <a:latin typeface="Inter"/>
              </a:rPr>
              <a:t>Instruktur menyusun topologi melalui kanvas drag-and-drop.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389120"/>
            <a:ext cx="630936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535424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6E7681"/>
                </a:solidFill>
                <a:latin typeface="Inter"/>
              </a:rPr>
              <a:t>Evaluasi Otomatis Real-Time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01184"/>
            <a:ext cx="5532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7681"/>
                </a:solidFill>
                <a:latin typeface="Inter"/>
              </a:rPr>
              <a:t>Event-driven: umpan balik instan segera setelah konfigurasi berubah.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669280"/>
            <a:ext cx="630936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5815584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6E7681"/>
                </a:solidFill>
                <a:latin typeface="Inter"/>
              </a:rPr>
              <a:t>Akses Browser Langsung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6181344"/>
            <a:ext cx="5532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7681"/>
                </a:solidFill>
                <a:latin typeface="Inter"/>
              </a:rPr>
              <a:t>CLI/GUI (SSH, RDP/VNC) melalui Apache Guacamole, tanpa instalasi tambahan.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“Oleh karena itu, penelitian ini menghadirkan vLab, platform yang menjalankan perangkat jaringan sungguhan, bukan simulasi.”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7/31</a:t>
            </a:r>
          </a:p>
        </p:txBody>
      </p:sp>
      <p:pic>
        <p:nvPicPr>
          <p:cNvPr id="30" name="Audio 29">
            <a:hlinkClick r:id="" action="ppaction://media"/>
            <a:extLst>
              <a:ext uri="{FF2B5EF4-FFF2-40B4-BE49-F238E27FC236}">
                <a16:creationId xmlns:a16="http://schemas.microsoft.com/office/drawing/2014/main" id="{9DE4AE49-CBE2-F8B9-804E-DED25466CC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73"/>
    </mc:Choice>
    <mc:Fallback>
      <p:transition spd="slow" advTm="44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JetBrains Mono"/>
              </a:rPr>
              <a:t>03 · SOLUSI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EDF3"/>
                </a:solidFill>
                <a:latin typeface="Inter"/>
              </a:rPr>
              <a:t>Solusinya: vLab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630936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975104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6E7681"/>
                </a:solidFill>
                <a:latin typeface="Inter"/>
              </a:rPr>
              <a:t>Perangkat Asli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40864"/>
            <a:ext cx="5532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7681"/>
                </a:solidFill>
                <a:latin typeface="Inter"/>
              </a:rPr>
              <a:t>Berjalan di atas Containerlab yang multi-vendor; fokus awal pada MikroTik RouterOS dan Linux sungguhan, bukan simulasi.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08960"/>
            <a:ext cx="630936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6EDF3"/>
                </a:solidFill>
                <a:latin typeface="Inter"/>
              </a:rPr>
              <a:t>Editor Topologi 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621024"/>
            <a:ext cx="5532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B949E"/>
                </a:solidFill>
                <a:latin typeface="Inter"/>
              </a:rPr>
              <a:t>Instruktur menyusun topologi melalui kanvas drag-and-drop.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389120"/>
            <a:ext cx="630936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535424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6EDF3"/>
                </a:solidFill>
                <a:latin typeface="Inter"/>
              </a:rPr>
              <a:t>Evaluasi Otomatis Real-Time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01184"/>
            <a:ext cx="5532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B949E"/>
                </a:solidFill>
                <a:latin typeface="Inter"/>
              </a:rPr>
              <a:t>Event-driven: umpan balik instan segera setelah konfigurasi berubah.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669280"/>
            <a:ext cx="630936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5815584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6E7681"/>
                </a:solidFill>
                <a:latin typeface="Inter"/>
              </a:rPr>
              <a:t>Akses Browser Langsung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6181344"/>
            <a:ext cx="5532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7681"/>
                </a:solidFill>
                <a:latin typeface="Inter"/>
              </a:rPr>
              <a:t>CLI/GUI (SSH, RDP/VNC) melalui Apache Guacamole, tanpa instalasi tambahan.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“Instruktur cukup menyusun topologi melalui editor drag-and-drop, sementara sistem menilai konfigurasi peserta secara otomatis dan real-time.”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8/31</a:t>
            </a:r>
          </a:p>
        </p:txBody>
      </p:sp>
      <p:pic>
        <p:nvPicPr>
          <p:cNvPr id="30" name="Audio 29">
            <a:hlinkClick r:id="" action="ppaction://media"/>
            <a:extLst>
              <a:ext uri="{FF2B5EF4-FFF2-40B4-BE49-F238E27FC236}">
                <a16:creationId xmlns:a16="http://schemas.microsoft.com/office/drawing/2014/main" id="{DF3931BA-FCE3-885F-18D0-32D53F2AA2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67"/>
    </mc:Choice>
    <mc:Fallback>
      <p:transition spd="slow" advTm="51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JetBrains Mono"/>
              </a:rPr>
              <a:t>03 · SOLUSI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EDF3"/>
                </a:solidFill>
                <a:latin typeface="Inter"/>
              </a:rPr>
              <a:t>Solusinya: vLab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630936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975104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6E7681"/>
                </a:solidFill>
                <a:latin typeface="Inter"/>
              </a:rPr>
              <a:t>Perangkat Asli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40864"/>
            <a:ext cx="5532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7681"/>
                </a:solidFill>
                <a:latin typeface="Inter"/>
              </a:rPr>
              <a:t>Berjalan di atas Containerlab yang multi-vendor; fokus awal pada MikroTik RouterOS dan Linux sungguhan, bukan simulasi.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08960"/>
            <a:ext cx="630936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6E7681"/>
                </a:solidFill>
                <a:latin typeface="Inter"/>
              </a:rPr>
              <a:t>Editor Topologi 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621024"/>
            <a:ext cx="5532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7681"/>
                </a:solidFill>
                <a:latin typeface="Inter"/>
              </a:rPr>
              <a:t>Instruktur menyusun topologi melalui kanvas drag-and-drop.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389120"/>
            <a:ext cx="630936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535424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6E7681"/>
                </a:solidFill>
                <a:latin typeface="Inter"/>
              </a:rPr>
              <a:t>Evaluasi Otomatis Real-Time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01184"/>
            <a:ext cx="5532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7681"/>
                </a:solidFill>
                <a:latin typeface="Inter"/>
              </a:rPr>
              <a:t>Event-driven: umpan balik instan segera setelah konfigurasi berubah.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669280"/>
            <a:ext cx="630936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5815584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6EDF3"/>
                </a:solidFill>
                <a:latin typeface="Inter"/>
              </a:rPr>
              <a:t>Akses Browser Langsung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6181344"/>
            <a:ext cx="5532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B949E"/>
                </a:solidFill>
                <a:latin typeface="Inter"/>
              </a:rPr>
              <a:t>CLI/GUI (SSH, RDP/VNC) melalui Apache Guacamole, tanpa instalasi tambahan.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“Seluruh proses ini dapat diakses langsung melalui browser, tanpa memerlukan instalasi aplikasi tambahan.”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9/31</a:t>
            </a:r>
          </a:p>
        </p:txBody>
      </p:sp>
      <p:pic>
        <p:nvPicPr>
          <p:cNvPr id="30" name="Audio 29">
            <a:hlinkClick r:id="" action="ppaction://media"/>
            <a:extLst>
              <a:ext uri="{FF2B5EF4-FFF2-40B4-BE49-F238E27FC236}">
                <a16:creationId xmlns:a16="http://schemas.microsoft.com/office/drawing/2014/main" id="{7EAAF796-08DF-F53A-D94D-ADF4A3312E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56"/>
    </mc:Choice>
    <mc:Fallback>
      <p:transition spd="slow" advTm="33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0A5FA"/>
                </a:solidFill>
                <a:latin typeface="JetBrains Mono"/>
              </a:rPr>
              <a:t>04 · CARA KERJA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6EDF3"/>
                </a:solidFill>
                <a:latin typeface="Inter"/>
              </a:rPr>
              <a:t>Arsitektur Terdistribusi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6309360" cy="1371600"/>
          </a:xfrm>
          <a:prstGeom prst="roundRect">
            <a:avLst>
              <a:gd name="adj" fmla="val 6000"/>
            </a:avLst>
          </a:prstGeom>
          <a:solidFill>
            <a:srgbClr val="1C2333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57399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60A5FA"/>
                </a:solidFill>
                <a:latin typeface="Inter"/>
              </a:rPr>
              <a:t>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19"/>
            <a:ext cx="5760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8B949E"/>
                </a:solidFill>
                <a:latin typeface="JetBrains Mono"/>
              </a:rPr>
              <a:t>Browser untuk seluruh pengguna: admin, instruktur, dan peserta (React SPA)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0" y="3246119"/>
            <a:ext cx="0" cy="228600"/>
          </a:xfrm>
          <a:prstGeom prst="line">
            <a:avLst/>
          </a:prstGeom>
          <a:ln w="25400">
            <a:solidFill>
              <a:srgbClr val="6E7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3474719"/>
            <a:ext cx="6309360" cy="1371600"/>
          </a:xfrm>
          <a:prstGeom prst="roundRect">
            <a:avLst>
              <a:gd name="adj" fmla="val 600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657599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6E7681"/>
                </a:solidFill>
                <a:latin typeface="Inter"/>
              </a:rPr>
              <a:t>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19"/>
            <a:ext cx="5760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7681"/>
                </a:solidFill>
                <a:latin typeface="JetBrains Mono"/>
              </a:rPr>
              <a:t>REST API · WebSocket · gRPC Server · Guacamole-lite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4846319"/>
            <a:ext cx="0" cy="228600"/>
          </a:xfrm>
          <a:prstGeom prst="line">
            <a:avLst/>
          </a:prstGeom>
          <a:ln w="25400">
            <a:solidFill>
              <a:srgbClr val="6E7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5074919"/>
            <a:ext cx="6309360" cy="1371600"/>
          </a:xfrm>
          <a:prstGeom prst="roundRect">
            <a:avLst>
              <a:gd name="adj" fmla="val 600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257799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6E7681"/>
                </a:solidFill>
                <a:latin typeface="Inter"/>
              </a:rPr>
              <a:t>Worker (1..n)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60719"/>
            <a:ext cx="5760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7681"/>
                </a:solidFill>
                <a:latin typeface="JetBrains Mono"/>
              </a:rPr>
              <a:t>Containerlab · Evaluator · guacd · Docker Containers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“Pada sisi pengguna, baik admin, instruktur, maupun peserta, akses platform hanya memerlukan browser.”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10/31</a:t>
            </a:r>
          </a:p>
        </p:txBody>
      </p:sp>
      <p:pic>
        <p:nvPicPr>
          <p:cNvPr id="25" name="Audio 24">
            <a:hlinkClick r:id="" action="ppaction://media"/>
            <a:extLst>
              <a:ext uri="{FF2B5EF4-FFF2-40B4-BE49-F238E27FC236}">
                <a16:creationId xmlns:a16="http://schemas.microsoft.com/office/drawing/2014/main" id="{9DB21587-7F57-F7F2-E7A6-C300273A5C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00"/>
    </mc:Choice>
    <mc:Fallback>
      <p:transition spd="slow" advTm="4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0A5FA"/>
                </a:solidFill>
                <a:latin typeface="JetBrains Mono"/>
              </a:rPr>
              <a:t>04 · CARA KERJA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6EDF3"/>
                </a:solidFill>
                <a:latin typeface="Inter"/>
              </a:rPr>
              <a:t>Arsitektur Terdistribusi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6309360" cy="1371600"/>
          </a:xfrm>
          <a:prstGeom prst="roundRect">
            <a:avLst>
              <a:gd name="adj" fmla="val 600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57399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6E7681"/>
                </a:solidFill>
                <a:latin typeface="Inter"/>
              </a:rPr>
              <a:t>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19"/>
            <a:ext cx="5760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7681"/>
                </a:solidFill>
                <a:latin typeface="JetBrains Mono"/>
              </a:rPr>
              <a:t>Browser untuk seluruh pengguna: admin, instruktur, dan peserta (React SPA)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0" y="3246119"/>
            <a:ext cx="0" cy="228600"/>
          </a:xfrm>
          <a:prstGeom prst="line">
            <a:avLst/>
          </a:prstGeom>
          <a:ln w="25400">
            <a:solidFill>
              <a:srgbClr val="6E7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3474719"/>
            <a:ext cx="6309360" cy="1371600"/>
          </a:xfrm>
          <a:prstGeom prst="roundRect">
            <a:avLst>
              <a:gd name="adj" fmla="val 6000"/>
            </a:avLst>
          </a:prstGeom>
          <a:solidFill>
            <a:srgbClr val="1C23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657599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4D399"/>
                </a:solidFill>
                <a:latin typeface="Inter"/>
              </a:rPr>
              <a:t>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19"/>
            <a:ext cx="5760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8B949E"/>
                </a:solidFill>
                <a:latin typeface="JetBrains Mono"/>
              </a:rPr>
              <a:t>REST API · WebSocket · gRPC Server · Guacamole-lite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4846319"/>
            <a:ext cx="0" cy="228600"/>
          </a:xfrm>
          <a:prstGeom prst="line">
            <a:avLst/>
          </a:prstGeom>
          <a:ln w="25400">
            <a:solidFill>
              <a:srgbClr val="6E7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5074919"/>
            <a:ext cx="6309360" cy="1371600"/>
          </a:xfrm>
          <a:prstGeom prst="roundRect">
            <a:avLst>
              <a:gd name="adj" fmla="val 600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257799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6E7681"/>
                </a:solidFill>
                <a:latin typeface="Inter"/>
              </a:rPr>
              <a:t>Worker (1..n)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60719"/>
            <a:ext cx="5760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7681"/>
                </a:solidFill>
                <a:latin typeface="JetBrains Mono"/>
              </a:rPr>
              <a:t>Containerlab · Evaluator · guacd · Docker Containers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“Manager menangani interaksi pengguna: REST API, WebSocket, serta meneruskan perintah ke Worker melalui gRPC dan menjembatani akses Guacamole.”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11/31</a:t>
            </a:r>
          </a:p>
        </p:txBody>
      </p:sp>
      <p:pic>
        <p:nvPicPr>
          <p:cNvPr id="25" name="Audio 24">
            <a:hlinkClick r:id="" action="ppaction://media"/>
            <a:extLst>
              <a:ext uri="{FF2B5EF4-FFF2-40B4-BE49-F238E27FC236}">
                <a16:creationId xmlns:a16="http://schemas.microsoft.com/office/drawing/2014/main" id="{B46DB207-2746-EF65-8090-4BA33FBCCB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24"/>
    </mc:Choice>
    <mc:Fallback>
      <p:transition spd="slow" advTm="55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0A5FA"/>
                </a:solidFill>
                <a:latin typeface="JetBrains Mono"/>
              </a:rPr>
              <a:t>04 · CARA KERJA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6EDF3"/>
                </a:solidFill>
                <a:latin typeface="Inter"/>
              </a:rPr>
              <a:t>Arsitektur Terdistribusi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6309360" cy="1371600"/>
          </a:xfrm>
          <a:prstGeom prst="roundRect">
            <a:avLst>
              <a:gd name="adj" fmla="val 600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57399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6E7681"/>
                </a:solidFill>
                <a:latin typeface="Inter"/>
              </a:rPr>
              <a:t>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19"/>
            <a:ext cx="5760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7681"/>
                </a:solidFill>
                <a:latin typeface="JetBrains Mono"/>
              </a:rPr>
              <a:t>Browser untuk seluruh pengguna: admin, instruktur, dan peserta (React SPA)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0" y="3246119"/>
            <a:ext cx="0" cy="228600"/>
          </a:xfrm>
          <a:prstGeom prst="line">
            <a:avLst/>
          </a:prstGeom>
          <a:ln w="25400">
            <a:solidFill>
              <a:srgbClr val="6E7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3474719"/>
            <a:ext cx="6309360" cy="1371600"/>
          </a:xfrm>
          <a:prstGeom prst="roundRect">
            <a:avLst>
              <a:gd name="adj" fmla="val 600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657599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6E7681"/>
                </a:solidFill>
                <a:latin typeface="Inter"/>
              </a:rPr>
              <a:t>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19"/>
            <a:ext cx="5760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7681"/>
                </a:solidFill>
                <a:latin typeface="JetBrains Mono"/>
              </a:rPr>
              <a:t>REST API · WebSocket · gRPC Server · Guacamole-lite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4846319"/>
            <a:ext cx="0" cy="228600"/>
          </a:xfrm>
          <a:prstGeom prst="line">
            <a:avLst/>
          </a:prstGeom>
          <a:ln w="25400">
            <a:solidFill>
              <a:srgbClr val="6E7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5074919"/>
            <a:ext cx="6309360" cy="1371600"/>
          </a:xfrm>
          <a:prstGeom prst="roundRect">
            <a:avLst>
              <a:gd name="adj" fmla="val 6000"/>
            </a:avLst>
          </a:prstGeom>
          <a:solidFill>
            <a:srgbClr val="1C2333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257799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A78BFA"/>
                </a:solidFill>
                <a:latin typeface="Inter"/>
              </a:rPr>
              <a:t>Worker (1..n)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60719"/>
            <a:ext cx="5760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8B949E"/>
                </a:solidFill>
                <a:latin typeface="JetBrains Mono"/>
              </a:rPr>
              <a:t>Containerlab · Evaluator · guacd · Docker Containers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“Worker menjalankan container perangkat melalui Containerlab, menjalankan Evaluator untuk penilaian otomatis, serta guacd untuk akses SSH/RDP.”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12/31</a:t>
            </a:r>
          </a:p>
        </p:txBody>
      </p:sp>
      <p:pic>
        <p:nvPicPr>
          <p:cNvPr id="25" name="Audio 24">
            <a:hlinkClick r:id="" action="ppaction://media"/>
            <a:extLst>
              <a:ext uri="{FF2B5EF4-FFF2-40B4-BE49-F238E27FC236}">
                <a16:creationId xmlns:a16="http://schemas.microsoft.com/office/drawing/2014/main" id="{A17F4B46-147E-C729-99DE-CEA827AFCA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86"/>
    </mc:Choice>
    <mc:Fallback>
      <p:transition spd="slow" advTm="48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0A5FA"/>
                </a:solidFill>
                <a:latin typeface="JetBrains Mono"/>
              </a:rPr>
              <a:t>04 · CARA KERJA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6EDF3"/>
                </a:solidFill>
                <a:latin typeface="Inter"/>
              </a:rPr>
              <a:t>Arsitektur Terdistribusi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6309360" cy="1371600"/>
          </a:xfrm>
          <a:prstGeom prst="roundRect">
            <a:avLst>
              <a:gd name="adj" fmla="val 600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57399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6E7681"/>
                </a:solidFill>
                <a:latin typeface="Inter"/>
              </a:rPr>
              <a:t>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19"/>
            <a:ext cx="5760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7681"/>
                </a:solidFill>
                <a:latin typeface="JetBrains Mono"/>
              </a:rPr>
              <a:t>Browser untuk seluruh pengguna: admin, instruktur, dan peserta (React SPA)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0" y="3246119"/>
            <a:ext cx="0" cy="228600"/>
          </a:xfrm>
          <a:prstGeom prst="line">
            <a:avLst/>
          </a:prstGeom>
          <a:ln w="25400">
            <a:solidFill>
              <a:srgbClr val="6E7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3474719"/>
            <a:ext cx="6309360" cy="1371600"/>
          </a:xfrm>
          <a:prstGeom prst="roundRect">
            <a:avLst>
              <a:gd name="adj" fmla="val 6000"/>
            </a:avLst>
          </a:prstGeom>
          <a:solidFill>
            <a:srgbClr val="1C23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657599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4D399"/>
                </a:solidFill>
                <a:latin typeface="Inter"/>
              </a:rPr>
              <a:t>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19"/>
            <a:ext cx="5760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8B949E"/>
                </a:solidFill>
                <a:latin typeface="JetBrains Mono"/>
              </a:rPr>
              <a:t>REST API · WebSocket · gRPC Server · Guacamole-lite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4846319"/>
            <a:ext cx="0" cy="228600"/>
          </a:xfrm>
          <a:prstGeom prst="line">
            <a:avLst/>
          </a:prstGeom>
          <a:ln w="25400">
            <a:solidFill>
              <a:srgbClr val="6E7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5074919"/>
            <a:ext cx="6309360" cy="1371600"/>
          </a:xfrm>
          <a:prstGeom prst="roundRect">
            <a:avLst>
              <a:gd name="adj" fmla="val 6000"/>
            </a:avLst>
          </a:prstGeom>
          <a:solidFill>
            <a:srgbClr val="1C2333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257799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A78BFA"/>
                </a:solidFill>
                <a:latin typeface="Inter"/>
              </a:rPr>
              <a:t>Worker (1..n)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60719"/>
            <a:ext cx="5760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8B949E"/>
                </a:solidFill>
                <a:latin typeface="JetBrains Mono"/>
              </a:rPr>
              <a:t>Containerlab · Evaluator · guacd · Docker Containers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“Pemisahan Manager dan Worker inilah yang memungkinkan skalabilitas horizontal: kapasitas dapat ditingkatkan hanya dengan menambahkan Worker baru.”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13/31</a:t>
            </a:r>
          </a:p>
        </p:txBody>
      </p:sp>
      <p:pic>
        <p:nvPicPr>
          <p:cNvPr id="25" name="Audio 24">
            <a:hlinkClick r:id="" action="ppaction://media"/>
            <a:extLst>
              <a:ext uri="{FF2B5EF4-FFF2-40B4-BE49-F238E27FC236}">
                <a16:creationId xmlns:a16="http://schemas.microsoft.com/office/drawing/2014/main" id="{98241340-D448-81F1-4ADE-D2CBA6A5D89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49"/>
    </mc:Choice>
    <mc:Fallback>
      <p:transition spd="slow" advTm="47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0A5FA"/>
                </a:solidFill>
                <a:latin typeface="JetBrains Mono"/>
              </a:rPr>
              <a:t>04 · CARA KERJA · INSTRUKTUR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E6EDF3"/>
                </a:solidFill>
                <a:latin typeface="Inter"/>
              </a:rPr>
              <a:t>Instruktur Menyusun 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76" y="1501629"/>
            <a:ext cx="7225448" cy="3718554"/>
          </a:xfrm>
          <a:prstGeom prst="roundRect">
            <a:avLst>
              <a:gd name="adj" fmla="val 3000"/>
            </a:avLst>
          </a:prstGeom>
          <a:solidFill>
            <a:srgbClr val="1C2333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lab_topology_form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8648" y="1585402"/>
            <a:ext cx="7057904" cy="35510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 dirty="0">
                <a:solidFill>
                  <a:srgbClr val="E6EDF3"/>
                </a:solidFill>
                <a:latin typeface="Inter"/>
              </a:rPr>
              <a:t>“</a:t>
            </a:r>
            <a:r>
              <a:rPr sz="1800" b="0" i="1" dirty="0" err="1">
                <a:solidFill>
                  <a:srgbClr val="E6EDF3"/>
                </a:solidFill>
                <a:latin typeface="Inter"/>
              </a:rPr>
              <a:t>Instruktur</a:t>
            </a:r>
            <a:r>
              <a:rPr sz="1800" b="0" i="1" dirty="0">
                <a:solidFill>
                  <a:srgbClr val="E6EDF3"/>
                </a:solidFill>
                <a:latin typeface="Inter"/>
              </a:rPr>
              <a:t> </a:t>
            </a:r>
            <a:r>
              <a:rPr sz="1800" b="0" i="1" dirty="0" err="1">
                <a:solidFill>
                  <a:srgbClr val="E6EDF3"/>
                </a:solidFill>
                <a:latin typeface="Inter"/>
              </a:rPr>
              <a:t>merancang</a:t>
            </a:r>
            <a:r>
              <a:rPr sz="1800" b="0" i="1" dirty="0">
                <a:solidFill>
                  <a:srgbClr val="E6EDF3"/>
                </a:solidFill>
                <a:latin typeface="Inter"/>
              </a:rPr>
              <a:t> </a:t>
            </a:r>
            <a:r>
              <a:rPr sz="1800" b="0" i="1" dirty="0" err="1">
                <a:solidFill>
                  <a:srgbClr val="E6EDF3"/>
                </a:solidFill>
                <a:latin typeface="Inter"/>
              </a:rPr>
              <a:t>topologi</a:t>
            </a:r>
            <a:r>
              <a:rPr sz="1800" b="0" i="1" dirty="0">
                <a:solidFill>
                  <a:srgbClr val="E6EDF3"/>
                </a:solidFill>
                <a:latin typeface="Inter"/>
              </a:rPr>
              <a:t> </a:t>
            </a:r>
            <a:r>
              <a:rPr sz="1800" b="0" i="1" dirty="0" err="1">
                <a:solidFill>
                  <a:srgbClr val="E6EDF3"/>
                </a:solidFill>
                <a:latin typeface="Inter"/>
              </a:rPr>
              <a:t>jaringan</a:t>
            </a:r>
            <a:r>
              <a:rPr sz="1800" b="0" i="1" dirty="0">
                <a:solidFill>
                  <a:srgbClr val="E6EDF3"/>
                </a:solidFill>
                <a:latin typeface="Inter"/>
              </a:rPr>
              <a:t> </a:t>
            </a:r>
            <a:r>
              <a:rPr sz="1800" b="0" i="1" dirty="0" err="1">
                <a:solidFill>
                  <a:srgbClr val="E6EDF3"/>
                </a:solidFill>
                <a:latin typeface="Inter"/>
              </a:rPr>
              <a:t>melalui</a:t>
            </a:r>
            <a:r>
              <a:rPr sz="1800" b="0" i="1" dirty="0">
                <a:solidFill>
                  <a:srgbClr val="E6EDF3"/>
                </a:solidFill>
                <a:latin typeface="Inter"/>
              </a:rPr>
              <a:t> </a:t>
            </a:r>
            <a:r>
              <a:rPr sz="1800" b="0" i="1" dirty="0" err="1">
                <a:solidFill>
                  <a:srgbClr val="E6EDF3"/>
                </a:solidFill>
                <a:latin typeface="Inter"/>
              </a:rPr>
              <a:t>kanvas</a:t>
            </a:r>
            <a:r>
              <a:rPr sz="1800" b="0" i="1" dirty="0">
                <a:solidFill>
                  <a:srgbClr val="E6EDF3"/>
                </a:solidFill>
                <a:latin typeface="Inter"/>
              </a:rPr>
              <a:t> drag-and-drop; daftar </a:t>
            </a:r>
            <a:r>
              <a:rPr sz="1800" b="0" i="1" dirty="0" err="1">
                <a:solidFill>
                  <a:srgbClr val="E6EDF3"/>
                </a:solidFill>
                <a:latin typeface="Inter"/>
              </a:rPr>
              <a:t>perangkat</a:t>
            </a:r>
            <a:r>
              <a:rPr sz="1800" b="0" i="1" dirty="0">
                <a:solidFill>
                  <a:srgbClr val="E6EDF3"/>
                </a:solidFill>
                <a:latin typeface="Inter"/>
              </a:rPr>
              <a:t> yang </a:t>
            </a:r>
            <a:r>
              <a:rPr sz="1800" b="0" i="1" dirty="0" err="1">
                <a:solidFill>
                  <a:srgbClr val="E6EDF3"/>
                </a:solidFill>
                <a:latin typeface="Inter"/>
              </a:rPr>
              <a:t>tersedia</a:t>
            </a:r>
            <a:r>
              <a:rPr sz="1800" b="0" i="1" dirty="0">
                <a:solidFill>
                  <a:srgbClr val="E6EDF3"/>
                </a:solidFill>
                <a:latin typeface="Inter"/>
              </a:rPr>
              <a:t> </a:t>
            </a:r>
            <a:r>
              <a:rPr sz="1800" b="0" i="1" dirty="0" err="1">
                <a:solidFill>
                  <a:srgbClr val="E6EDF3"/>
                </a:solidFill>
                <a:latin typeface="Inter"/>
              </a:rPr>
              <a:t>ditampilkan</a:t>
            </a:r>
            <a:r>
              <a:rPr sz="1800" b="0" i="1" dirty="0">
                <a:solidFill>
                  <a:srgbClr val="E6EDF3"/>
                </a:solidFill>
                <a:latin typeface="Inter"/>
              </a:rPr>
              <a:t> pada </a:t>
            </a:r>
            <a:r>
              <a:rPr sz="1800" b="0" i="1" dirty="0" err="1">
                <a:solidFill>
                  <a:srgbClr val="E6EDF3"/>
                </a:solidFill>
                <a:latin typeface="Inter"/>
              </a:rPr>
              <a:t>sisi</a:t>
            </a:r>
            <a:r>
              <a:rPr sz="1800" b="0" i="1" dirty="0">
                <a:solidFill>
                  <a:srgbClr val="E6EDF3"/>
                </a:solidFill>
                <a:latin typeface="Inter"/>
              </a:rPr>
              <a:t> kiri </a:t>
            </a:r>
            <a:r>
              <a:rPr sz="1800" b="0" i="1" dirty="0" err="1">
                <a:solidFill>
                  <a:srgbClr val="E6EDF3"/>
                </a:solidFill>
                <a:latin typeface="Inter"/>
              </a:rPr>
              <a:t>halaman</a:t>
            </a:r>
            <a:r>
              <a:rPr sz="1800" b="0" i="1" dirty="0">
                <a:solidFill>
                  <a:srgbClr val="E6EDF3"/>
                </a:solidFill>
                <a:latin typeface="Inter"/>
              </a:rPr>
              <a:t>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14/31</a:t>
            </a:r>
          </a:p>
        </p:txBody>
      </p:sp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4E0D0769-DEBB-E1C6-D249-C7DB57F786C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794"/>
    </mc:Choice>
    <mc:Fallback>
      <p:transition spd="slow" advTm="117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0"/>
                  </p:stCondLst>
                </p:cTn>
                <p:tgtEl>
                  <p:spTgt spid="6"/>
                </p:tgtEl>
              </p:cMediaNode>
            </p:video>
            <p:audio isNarration="1">
              <p:cMediaNode vol="80000" showWhenStopped="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21" objId="6"/>
        <p14:stopEvt time="11690" objId="6"/>
      </p14:showEvt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0A5FA"/>
                </a:solidFill>
                <a:latin typeface="JetBrains Mono"/>
              </a:rPr>
              <a:t>04 · CARA KERJA · INSTRUKTUR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E6EDF3"/>
                </a:solidFill>
                <a:latin typeface="Inter"/>
              </a:rPr>
              <a:t>Instruktur Menyusun 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-107" y="1478479"/>
            <a:ext cx="7315414" cy="3764854"/>
          </a:xfrm>
          <a:prstGeom prst="roundRect">
            <a:avLst>
              <a:gd name="adj" fmla="val 3000"/>
            </a:avLst>
          </a:prstGeom>
          <a:solidFill>
            <a:srgbClr val="1C2333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lab_instruction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4709" y="1563295"/>
            <a:ext cx="7145782" cy="359522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“Instruktur juga menyediakan instruksi beserta pengecekan otomatis, lengkap dengan bobot nilai yang menentukan kontribusinya terhadap skor akhir.”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15/31</a:t>
            </a:r>
          </a:p>
        </p:txBody>
      </p:sp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32D3C01B-6571-F83E-777D-8FBD5B0D509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399"/>
    </mc:Choice>
    <mc:Fallback>
      <p:transition spd="slow" advTm="183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0"/>
                  </p:stCondLst>
                </p:cTn>
                <p:tgtEl>
                  <p:spTgt spid="6"/>
                </p:tgtEl>
              </p:cMediaNode>
            </p:video>
            <p:audio isNarration="1">
              <p:cMediaNode vol="80000" showWhenStopped="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38" objId="6"/>
        <p14:stopEvt time="18303" objId="6"/>
      </p14:showEvtLst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JetBrains Mono"/>
              </a:rPr>
              <a:t>04 · CARA KERJA · PESERTA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E6EDF3"/>
                </a:solidFill>
                <a:latin typeface="Inter"/>
              </a:rPr>
              <a:t>Peserta Mengerjakan 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76" y="1501629"/>
            <a:ext cx="7225448" cy="3718554"/>
          </a:xfrm>
          <a:prstGeom prst="roundRect">
            <a:avLst>
              <a:gd name="adj" fmla="val 3000"/>
            </a:avLst>
          </a:prstGeom>
          <a:solidFill>
            <a:srgbClr val="1C23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lab_view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8648" y="1585402"/>
            <a:ext cx="7057904" cy="35510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“Peserta membuka lab dan melihat topologi, instruksi, serta pengecekan yang akan dinilai pada sisi kanan halaman.”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16/31</a:t>
            </a:r>
          </a:p>
        </p:txBody>
      </p:sp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585BC1F4-C292-4AE8-B6E1-B689B4F9C88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430"/>
    </mc:Choice>
    <mc:Fallback>
      <p:transition spd="slow" advTm="74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0"/>
                  </p:stCondLst>
                </p:cTn>
                <p:tgtEl>
                  <p:spTgt spid="6"/>
                </p:tgtEl>
              </p:cMediaNode>
            </p:video>
            <p:audio isNarration="1">
              <p:cMediaNode vol="80000" showWhenStopped="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34" objId="6"/>
        <p14:stopEvt time="6423" objId="6"/>
      </p14:showEvt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JetBrains Mono"/>
              </a:rPr>
              <a:t>04 · CARA KERJA · PESERTA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E6EDF3"/>
                </a:solidFill>
                <a:latin typeface="Inter"/>
              </a:rPr>
              <a:t>Peserta Mengerjakan 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83" y="1505868"/>
            <a:ext cx="7262197" cy="3737465"/>
          </a:xfrm>
          <a:prstGeom prst="roundRect">
            <a:avLst>
              <a:gd name="adj" fmla="val 3000"/>
            </a:avLst>
          </a:prstGeom>
          <a:solidFill>
            <a:srgbClr val="1C23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lab_acces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6679" y="1579020"/>
            <a:ext cx="7093797" cy="35690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“Peserta kemudian mengonfigurasi perangkat langsung dari terminal atau desktop di browser, sesuai instruksi yang tersedia.”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17/31</a:t>
            </a:r>
          </a:p>
        </p:txBody>
      </p:sp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117DDAC2-5682-D03B-521B-721172FB4DC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17"/>
    </mc:Choice>
    <mc:Fallback>
      <p:transition spd="slow" advTm="41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0"/>
                  </p:stCondLst>
                </p:cTn>
                <p:tgtEl>
                  <p:spTgt spid="6"/>
                </p:tgtEl>
              </p:cMediaNode>
            </p:video>
            <p:audio isNarration="1">
              <p:cMediaNode vol="80000" showWhenStopped="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10" objId="6"/>
        <p14:stopEvt time="3900" objId="6"/>
      </p14:showEvt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JetBrains Mono"/>
              </a:rPr>
              <a:t>04 · CARA KERJA · PESERTA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E6EDF3"/>
                </a:solidFill>
                <a:latin typeface="Inter"/>
              </a:rPr>
              <a:t>Peserta Mengerjakan 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-13522" y="1709927"/>
            <a:ext cx="7315200" cy="3764743"/>
          </a:xfrm>
          <a:prstGeom prst="roundRect">
            <a:avLst>
              <a:gd name="adj" fmla="val 3000"/>
            </a:avLst>
          </a:prstGeom>
          <a:solidFill>
            <a:srgbClr val="1C23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lab_notif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947" y="1759929"/>
            <a:ext cx="7291625" cy="366859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“Begitu konfigurasi sesuai, peserta langsung menerima notifikasi kelulusan secara real-time, tanpa menunggu penilaian manual instruktur.”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18/31</a:t>
            </a:r>
          </a:p>
        </p:txBody>
      </p:sp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4E1C1A3B-8EE3-8056-0908-9DAAE3BEFFA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664"/>
    </mc:Choice>
    <mc:Fallback>
      <p:transition spd="slow" advTm="136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0"/>
                  </p:stCondLst>
                </p:cTn>
                <p:tgtEl>
                  <p:spTgt spid="6"/>
                </p:tgtEl>
              </p:cMediaNode>
            </p:video>
            <p:audio isNarration="1">
              <p:cMediaNode vol="80000" showWhenStopped="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16" objId="6"/>
        <p14:stopEvt time="13073" objId="6"/>
      </p14:showEvt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JetBrains Mono"/>
              </a:rPr>
              <a:t>04 · CARA KERJA · PESERTA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E6EDF3"/>
                </a:solidFill>
                <a:latin typeface="Inter"/>
              </a:rPr>
              <a:t>Monitoring Real-Time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9848" y="1600200"/>
            <a:ext cx="5175504" cy="2735966"/>
          </a:xfrm>
          <a:prstGeom prst="roundRect">
            <a:avLst>
              <a:gd name="adj" fmla="val 3000"/>
            </a:avLst>
          </a:prstGeom>
          <a:solidFill>
            <a:srgbClr val="1C23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lab_submit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43000" y="1673352"/>
            <a:ext cx="5029200" cy="258966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252728" y="1783080"/>
            <a:ext cx="1188720" cy="174001"/>
          </a:xfrm>
          <a:prstGeom prst="roundRect">
            <a:avLst>
              <a:gd name="adj" fmla="val 30000"/>
            </a:avLst>
          </a:prstGeom>
          <a:solidFill>
            <a:srgbClr val="1C23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2728" y="1787804"/>
            <a:ext cx="11887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dirty="0">
                <a:solidFill>
                  <a:srgbClr val="34D399"/>
                </a:solidFill>
                <a:latin typeface="JetBrains Mono"/>
              </a:rPr>
              <a:t>PESERTA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9848" y="4409318"/>
            <a:ext cx="5175504" cy="2975229"/>
          </a:xfrm>
          <a:prstGeom prst="roundRect">
            <a:avLst>
              <a:gd name="adj" fmla="val 3000"/>
            </a:avLst>
          </a:prstGeom>
          <a:solidFill>
            <a:srgbClr val="1C2333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nstructor_dash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43000" y="4482470"/>
            <a:ext cx="5029200" cy="282892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252728" y="4560606"/>
            <a:ext cx="1188720" cy="169277"/>
          </a:xfrm>
          <a:prstGeom prst="roundRect">
            <a:avLst>
              <a:gd name="adj" fmla="val 30000"/>
            </a:avLst>
          </a:prstGeom>
          <a:solidFill>
            <a:srgbClr val="1C2333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52728" y="4560080"/>
            <a:ext cx="11887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dirty="0">
                <a:solidFill>
                  <a:srgbClr val="60A5FA"/>
                </a:solidFill>
                <a:latin typeface="JetBrains Mono"/>
              </a:rPr>
              <a:t>INSTRUKTUR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“Sementara peserta mengerjakan lab, instruktur dapat memantau status dan skor tiap peserta secara real-time melalui dasbor.”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19/31</a:t>
            </a:r>
          </a:p>
        </p:txBody>
      </p:sp>
      <p:pic>
        <p:nvPicPr>
          <p:cNvPr id="18" name="Audio 17">
            <a:hlinkClick r:id="" action="ppaction://media"/>
            <a:extLst>
              <a:ext uri="{FF2B5EF4-FFF2-40B4-BE49-F238E27FC236}">
                <a16:creationId xmlns:a16="http://schemas.microsoft.com/office/drawing/2014/main" id="{A8A69463-D09E-348F-35DC-C460CA279C54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453"/>
    </mc:Choice>
    <mc:Fallback>
      <p:transition spd="slow" advTm="64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0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8" fill="hold" display="0">
                  <p:stCondLst>
                    <p:cond delay="0"/>
                  </p:stCondLst>
                </p:cTn>
                <p:tgtEl>
                  <p:spTgt spid="10"/>
                </p:tgtEl>
              </p:cMediaNode>
            </p:video>
            <p:audio isNarration="1">
              <p:cMediaNode vol="80000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11" objId="6"/>
        <p14:playEvt time="49" objId="10"/>
        <p14:stopEvt time="4171" objId="6"/>
        <p14:stopEvt time="6416" objId="10"/>
      </p14:showEvtLst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78BFA"/>
                </a:solidFill>
                <a:latin typeface="JetBrains Mono"/>
              </a:rPr>
              <a:t>04 · CARA KERJA ·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E6EDF3"/>
                </a:solidFill>
                <a:latin typeface="Inter"/>
              </a:rPr>
              <a:t>Admin Memantau Sistem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6309360" cy="3265037"/>
          </a:xfrm>
          <a:prstGeom prst="roundRect">
            <a:avLst>
              <a:gd name="adj" fmla="val 3000"/>
            </a:avLst>
          </a:prstGeom>
          <a:solidFill>
            <a:srgbClr val="1C2333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dmin_dash_pr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1810512"/>
            <a:ext cx="6163056" cy="311873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“Admin memantau kondisi infrastruktur secara real-time, termasuk beban kerja setiap Worker lintas penyedia cloud.”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20/31</a:t>
            </a:r>
          </a:p>
        </p:txBody>
      </p:sp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B3567247-D632-0B45-351A-988E9BBB65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14"/>
    </mc:Choice>
    <mc:Fallback>
      <p:transition spd="slow" advTm="37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JetBrains Mono"/>
              </a:rPr>
              <a:t>05 · HASIL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E6EDF3"/>
                </a:solidFill>
                <a:latin typeface="Inter"/>
              </a:rPr>
              <a:t>Efisiensi 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6309360" cy="868680"/>
          </a:xfrm>
          <a:prstGeom prst="roundRect">
            <a:avLst>
              <a:gd name="adj" fmla="val 6000"/>
            </a:avLst>
          </a:prstGeom>
          <a:solidFill>
            <a:srgbClr val="1C23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4D399"/>
                </a:solidFill>
                <a:latin typeface="Inter"/>
              </a:rPr>
              <a:t>~1.157×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516946"/>
            <a:ext cx="3566160" cy="395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dirty="0" err="1">
                <a:solidFill>
                  <a:srgbClr val="E6EDF3"/>
                </a:solidFill>
                <a:latin typeface="Inter"/>
              </a:rPr>
              <a:t>lebih</a:t>
            </a:r>
            <a:r>
              <a:rPr sz="1150" b="1" i="0" dirty="0">
                <a:solidFill>
                  <a:srgbClr val="E6EDF3"/>
                </a:solidFill>
                <a:latin typeface="Inter"/>
              </a:rPr>
              <a:t> </a:t>
            </a:r>
            <a:r>
              <a:rPr sz="1150" b="1" i="0" dirty="0" err="1">
                <a:solidFill>
                  <a:srgbClr val="E6EDF3"/>
                </a:solidFill>
                <a:latin typeface="Inter"/>
              </a:rPr>
              <a:t>hemat</a:t>
            </a:r>
            <a:r>
              <a:rPr sz="1150" b="1" i="0" dirty="0">
                <a:solidFill>
                  <a:srgbClr val="E6EDF3"/>
                </a:solidFill>
                <a:latin typeface="Inter"/>
              </a:rPr>
              <a:t> storage </a:t>
            </a:r>
            <a:r>
              <a:rPr sz="1150" b="1" i="0" dirty="0" err="1">
                <a:solidFill>
                  <a:srgbClr val="E6EDF3"/>
                </a:solidFill>
                <a:latin typeface="Inter"/>
              </a:rPr>
              <a:t>dibandingkan</a:t>
            </a:r>
            <a:endParaRPr sz="1150" b="1" i="0" dirty="0">
              <a:solidFill>
                <a:srgbClr val="E6EDF3"/>
              </a:solidFill>
              <a:latin typeface="Inter"/>
            </a:endParaRPr>
          </a:p>
          <a:p>
            <a:pPr algn="l">
              <a:lnSpc>
                <a:spcPct val="115000"/>
              </a:lnSpc>
            </a:pPr>
            <a:r>
              <a:rPr sz="1150" b="1" i="0" dirty="0">
                <a:solidFill>
                  <a:srgbClr val="E6EDF3"/>
                </a:solidFill>
                <a:latin typeface="Inter"/>
              </a:rPr>
              <a:t>VM </a:t>
            </a:r>
            <a:r>
              <a:rPr sz="1150" b="1" i="0" dirty="0" err="1">
                <a:solidFill>
                  <a:srgbClr val="E6EDF3"/>
                </a:solidFill>
                <a:latin typeface="Inter"/>
              </a:rPr>
              <a:t>konvensional</a:t>
            </a:r>
            <a:r>
              <a:rPr sz="1150" b="1" i="0" dirty="0">
                <a:solidFill>
                  <a:srgbClr val="E6EDF3"/>
                </a:solidFill>
                <a:latin typeface="Inter"/>
              </a:rPr>
              <a:t> (~99,9% </a:t>
            </a:r>
            <a:r>
              <a:rPr sz="1150" b="1" i="0" dirty="0" err="1">
                <a:solidFill>
                  <a:srgbClr val="E6EDF3"/>
                </a:solidFill>
                <a:latin typeface="Inter"/>
              </a:rPr>
              <a:t>lebih</a:t>
            </a:r>
            <a:r>
              <a:rPr sz="1150" b="1" i="0" dirty="0">
                <a:solidFill>
                  <a:srgbClr val="E6EDF3"/>
                </a:solidFill>
                <a:latin typeface="Inter"/>
              </a:rPr>
              <a:t> </a:t>
            </a:r>
            <a:r>
              <a:rPr lang="en-US" sz="1150" b="1" i="0" dirty="0" err="1">
                <a:solidFill>
                  <a:srgbClr val="E6EDF3"/>
                </a:solidFill>
                <a:latin typeface="Inter"/>
              </a:rPr>
              <a:t>kecil</a:t>
            </a:r>
            <a:r>
              <a:rPr sz="1150" b="1" i="0" dirty="0">
                <a:solidFill>
                  <a:srgbClr val="E6EDF3"/>
                </a:solidFill>
                <a:latin typeface="Inter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86000"/>
            <a:ext cx="3017520" cy="8686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432304"/>
            <a:ext cx="2560320" cy="477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6E7681"/>
                </a:solidFill>
                <a:latin typeface="Inter"/>
              </a:rPr>
              <a:t>93 MiB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9834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E7681"/>
                </a:solidFill>
                <a:latin typeface="Inter"/>
              </a:rPr>
              <a:t>40 container Docker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E7681"/>
                </a:solidFill>
                <a:latin typeface="Inter"/>
              </a:rPr>
              <a:t>aktif bersamaan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2286000"/>
            <a:ext cx="3017520" cy="8686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60" y="2432304"/>
            <a:ext cx="2560320" cy="477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6E7681"/>
                </a:solidFill>
                <a:latin typeface="Inter"/>
              </a:rPr>
              <a:t>~105 GiB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789834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E7681"/>
                </a:solidFill>
                <a:latin typeface="Inter"/>
              </a:rPr>
              <a:t>40 instansi VM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E7681"/>
                </a:solidFill>
                <a:latin typeface="Inter"/>
              </a:rPr>
              <a:t>konvensional (setara)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337560"/>
            <a:ext cx="5760720" cy="3834891"/>
          </a:xfrm>
          <a:prstGeom prst="roundRect">
            <a:avLst>
              <a:gd name="adj" fmla="val 3000"/>
            </a:avLst>
          </a:prstGeom>
          <a:solidFill>
            <a:srgbClr val="1C23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erbandingan_storage_docker_v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74720"/>
            <a:ext cx="5486400" cy="3560571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“Beralih ke hasil pengujian, efisiensi penyimpanan menjadi temuan pertama yang signifikan.”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21/31</a:t>
            </a:r>
          </a:p>
        </p:txBody>
      </p:sp>
      <p:pic>
        <p:nvPicPr>
          <p:cNvPr id="21" name="Audio 20">
            <a:hlinkClick r:id="" action="ppaction://media"/>
            <a:extLst>
              <a:ext uri="{FF2B5EF4-FFF2-40B4-BE49-F238E27FC236}">
                <a16:creationId xmlns:a16="http://schemas.microsoft.com/office/drawing/2014/main" id="{2F5341DD-82C2-C69A-1BA9-11301EA8F9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88"/>
    </mc:Choice>
    <mc:Fallback>
      <p:transition spd="slow" advTm="37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JetBrains Mono"/>
              </a:rPr>
              <a:t>05 · HASIL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E6EDF3"/>
                </a:solidFill>
                <a:latin typeface="Inter"/>
              </a:rPr>
              <a:t>Efisiensi 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6309360" cy="868680"/>
          </a:xfrm>
          <a:prstGeom prst="roundRect">
            <a:avLst>
              <a:gd name="adj" fmla="val 6000"/>
            </a:avLst>
          </a:prstGeom>
          <a:solidFill>
            <a:srgbClr val="1C23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4D399"/>
                </a:solidFill>
                <a:latin typeface="Inter"/>
              </a:rPr>
              <a:t>~1.157×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80160"/>
            <a:ext cx="3566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6EDF3"/>
                </a:solidFill>
                <a:latin typeface="Inter"/>
              </a:rPr>
              <a:t>lebih hemat storage dibandingkan</a:t>
            </a:r>
          </a:p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6EDF3"/>
                </a:solidFill>
                <a:latin typeface="Inter"/>
              </a:rPr>
              <a:t>VM konvensional (~99,9% lebih sedikit)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86000"/>
            <a:ext cx="3017520" cy="8686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432304"/>
            <a:ext cx="2560320" cy="477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60A5FA"/>
                </a:solidFill>
                <a:latin typeface="Inter"/>
              </a:rPr>
              <a:t>93 MiB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9834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8B949E"/>
                </a:solidFill>
                <a:latin typeface="Inter"/>
              </a:rPr>
              <a:t>40 container Docker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8B949E"/>
                </a:solidFill>
                <a:latin typeface="Inter"/>
              </a:rPr>
              <a:t>aktif bersamaan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2286000"/>
            <a:ext cx="3017520" cy="8686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C0C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60" y="2432304"/>
            <a:ext cx="2560320" cy="477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0C6CE"/>
                </a:solidFill>
                <a:latin typeface="Inter"/>
              </a:rPr>
              <a:t>~105 GiB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789834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8B949E"/>
                </a:solidFill>
                <a:latin typeface="Inter"/>
              </a:rPr>
              <a:t>40 instansi VM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8B949E"/>
                </a:solidFill>
                <a:latin typeface="Inter"/>
              </a:rPr>
              <a:t>konvensional (setara)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337560"/>
            <a:ext cx="5760720" cy="3834891"/>
          </a:xfrm>
          <a:prstGeom prst="roundRect">
            <a:avLst>
              <a:gd name="adj" fmla="val 3000"/>
            </a:avLst>
          </a:prstGeom>
          <a:solidFill>
            <a:srgbClr val="1C23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erbandingan_storage_docker_v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74720"/>
            <a:ext cx="5486400" cy="3560571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“40 container yang berjalan bersamaan hanya membutuhkan 93 MiB, dibandingkan sekitar 105 GiB pada VM konvensional, atau sekitar 1.157 kali lebih hemat.”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22/31</a:t>
            </a:r>
          </a:p>
        </p:txBody>
      </p:sp>
      <p:pic>
        <p:nvPicPr>
          <p:cNvPr id="21" name="Audio 20">
            <a:hlinkClick r:id="" action="ppaction://media"/>
            <a:extLst>
              <a:ext uri="{FF2B5EF4-FFF2-40B4-BE49-F238E27FC236}">
                <a16:creationId xmlns:a16="http://schemas.microsoft.com/office/drawing/2014/main" id="{E1CC57FE-34F0-DA0B-876A-8EDAE46D35B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80"/>
    </mc:Choice>
    <mc:Fallback>
      <p:transition spd="slow" advTm="28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JetBrains Mono"/>
              </a:rPr>
              <a:t>05 · HASIL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E6EDF3"/>
                </a:solidFill>
                <a:latin typeface="Inter"/>
              </a:rPr>
              <a:t>Efisiensi 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6309360" cy="868680"/>
          </a:xfrm>
          <a:prstGeom prst="roundRect">
            <a:avLst>
              <a:gd name="adj" fmla="val 6000"/>
            </a:avLst>
          </a:prstGeom>
          <a:solidFill>
            <a:srgbClr val="1C23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4D399"/>
                </a:solidFill>
                <a:latin typeface="Inter"/>
              </a:rPr>
              <a:t>~1.157×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80160"/>
            <a:ext cx="3566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6EDF3"/>
                </a:solidFill>
                <a:latin typeface="Inter"/>
              </a:rPr>
              <a:t>lebih hemat storage dibandingkan</a:t>
            </a:r>
          </a:p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6EDF3"/>
                </a:solidFill>
                <a:latin typeface="Inter"/>
              </a:rPr>
              <a:t>VM konvensional (~99,9% lebih sedikit)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86000"/>
            <a:ext cx="3017520" cy="8686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432304"/>
            <a:ext cx="2560320" cy="477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60A5FA"/>
                </a:solidFill>
                <a:latin typeface="Inter"/>
              </a:rPr>
              <a:t>93 MiB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9834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8B949E"/>
                </a:solidFill>
                <a:latin typeface="Inter"/>
              </a:rPr>
              <a:t>40 container Docker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8B949E"/>
                </a:solidFill>
                <a:latin typeface="Inter"/>
              </a:rPr>
              <a:t>aktif bersamaan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2286000"/>
            <a:ext cx="3017520" cy="8686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C0C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60" y="2432304"/>
            <a:ext cx="2560320" cy="477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0C6CE"/>
                </a:solidFill>
                <a:latin typeface="Inter"/>
              </a:rPr>
              <a:t>~105 GiB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789834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8B949E"/>
                </a:solidFill>
                <a:latin typeface="Inter"/>
              </a:rPr>
              <a:t>40 instansi VM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8B949E"/>
                </a:solidFill>
                <a:latin typeface="Inter"/>
              </a:rPr>
              <a:t>konvensional (setara)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337560"/>
            <a:ext cx="5760720" cy="3834891"/>
          </a:xfrm>
          <a:prstGeom prst="roundRect">
            <a:avLst>
              <a:gd name="adj" fmla="val 3000"/>
            </a:avLst>
          </a:prstGeom>
          <a:solidFill>
            <a:srgbClr val="1C23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erbandingan_storage_docker_v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74720"/>
            <a:ext cx="5486400" cy="3560571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“Efisiensi ini terjadi karena container berbagi satu image dasar; VM harus mengalokasikan disk penuh sejak awal, seperti terlihat pada grafik ini.”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23/31</a:t>
            </a:r>
          </a:p>
        </p:txBody>
      </p:sp>
      <p:pic>
        <p:nvPicPr>
          <p:cNvPr id="21" name="Audio 20">
            <a:hlinkClick r:id="" action="ppaction://media"/>
            <a:extLst>
              <a:ext uri="{FF2B5EF4-FFF2-40B4-BE49-F238E27FC236}">
                <a16:creationId xmlns:a16="http://schemas.microsoft.com/office/drawing/2014/main" id="{50F35325-7773-F77C-7611-A1DEA844C6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92"/>
    </mc:Choice>
    <mc:Fallback>
      <p:transition spd="slow" advTm="51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JetBrains Mono"/>
              </a:rPr>
              <a:t>05 · HASIL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6EDF3"/>
                </a:solidFill>
                <a:latin typeface="Inter"/>
              </a:rPr>
              <a:t>Skalabel dan Teruji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6309360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20823"/>
            <a:ext cx="5852160" cy="729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60A5FA"/>
                </a:solidFill>
                <a:latin typeface="Inter"/>
              </a:rPr>
              <a:t>35 pengguna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43529"/>
            <a:ext cx="5852160" cy="429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 dirty="0" err="1">
                <a:solidFill>
                  <a:srgbClr val="8B949E"/>
                </a:solidFill>
                <a:latin typeface="Inter"/>
              </a:rPr>
              <a:t>stabil</a:t>
            </a:r>
            <a:r>
              <a:rPr sz="1300" b="0" i="0" dirty="0">
                <a:solidFill>
                  <a:srgbClr val="8B949E"/>
                </a:solidFill>
                <a:latin typeface="Inter"/>
              </a:rPr>
              <a:t> pada 12 vCPU / 12 GB RAM</a:t>
            </a:r>
            <a:endParaRPr lang="en-US" sz="1300" b="0" i="0" dirty="0">
              <a:solidFill>
                <a:srgbClr val="8B949E"/>
              </a:solidFill>
              <a:latin typeface="Inter"/>
            </a:endParaRPr>
          </a:p>
          <a:p>
            <a:pPr algn="l">
              <a:lnSpc>
                <a:spcPct val="110000"/>
              </a:lnSpc>
            </a:pPr>
            <a:r>
              <a:rPr lang="en-ID" sz="1300" b="0" i="0" dirty="0">
                <a:solidFill>
                  <a:srgbClr val="8B949E"/>
                </a:solidFill>
                <a:latin typeface="Inter"/>
              </a:rPr>
              <a:t>(masing-masing </a:t>
            </a:r>
            <a:r>
              <a:rPr lang="en-ID" sz="1300" b="0" i="0" dirty="0" err="1">
                <a:solidFill>
                  <a:srgbClr val="8B949E"/>
                </a:solidFill>
                <a:latin typeface="Inter"/>
              </a:rPr>
              <a:t>pengguna</a:t>
            </a:r>
            <a:r>
              <a:rPr lang="en-ID" sz="1300" b="0" i="0" dirty="0">
                <a:solidFill>
                  <a:srgbClr val="8B949E"/>
                </a:solidFill>
                <a:latin typeface="Inter"/>
              </a:rPr>
              <a:t> </a:t>
            </a:r>
            <a:r>
              <a:rPr lang="en-ID" sz="1300" b="0" i="0" dirty="0" err="1">
                <a:solidFill>
                  <a:srgbClr val="8B949E"/>
                </a:solidFill>
                <a:latin typeface="Inter"/>
              </a:rPr>
              <a:t>menjalankan</a:t>
            </a:r>
            <a:r>
              <a:rPr lang="en-ID" sz="1300" b="0" i="0" dirty="0">
                <a:solidFill>
                  <a:srgbClr val="8B949E"/>
                </a:solidFill>
                <a:latin typeface="Inter"/>
              </a:rPr>
              <a:t> 1 </a:t>
            </a:r>
            <a:r>
              <a:rPr lang="en-ID" sz="1300" b="0" i="0" dirty="0" err="1">
                <a:solidFill>
                  <a:srgbClr val="8B949E"/>
                </a:solidFill>
                <a:latin typeface="Inter"/>
              </a:rPr>
              <a:t>MikroTik</a:t>
            </a:r>
            <a:r>
              <a:rPr lang="en-ID" sz="1300" b="0" i="0" dirty="0">
                <a:solidFill>
                  <a:srgbClr val="8B949E"/>
                </a:solidFill>
                <a:latin typeface="Inter"/>
              </a:rPr>
              <a:t> dan 1 Linux)</a:t>
            </a:r>
            <a:endParaRPr sz="1300" b="0" i="0" dirty="0">
              <a:solidFill>
                <a:srgbClr val="8B949E"/>
              </a:solidFill>
              <a:latin typeface="Inter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3383279"/>
            <a:ext cx="6309360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529583"/>
            <a:ext cx="5852160" cy="729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6E7681"/>
                </a:solidFill>
                <a:latin typeface="Inter"/>
              </a:rPr>
              <a:t>16 pengecekan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52289"/>
            <a:ext cx="5852160" cy="20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300" dirty="0" err="1">
                <a:solidFill>
                  <a:srgbClr val="6E7681"/>
                </a:solidFill>
                <a:latin typeface="Inter"/>
              </a:rPr>
              <a:t>m</a:t>
            </a:r>
            <a:r>
              <a:rPr lang="en-US" sz="1300" b="0" i="0" dirty="0" err="1">
                <a:solidFill>
                  <a:srgbClr val="6E7681"/>
                </a:solidFill>
                <a:latin typeface="Inter"/>
              </a:rPr>
              <a:t>endeteksi</a:t>
            </a:r>
            <a:r>
              <a:rPr lang="en-US" sz="1300" b="0" i="0" dirty="0">
                <a:solidFill>
                  <a:srgbClr val="6E7681"/>
                </a:solidFill>
                <a:latin typeface="Inter"/>
              </a:rPr>
              <a:t> </a:t>
            </a:r>
            <a:r>
              <a:rPr lang="en-US" sz="1300" b="0" i="0" dirty="0" err="1">
                <a:solidFill>
                  <a:srgbClr val="6E7681"/>
                </a:solidFill>
                <a:latin typeface="Inter"/>
              </a:rPr>
              <a:t>perubahaan</a:t>
            </a:r>
            <a:r>
              <a:rPr lang="en-US" sz="1300" b="0" i="0" dirty="0">
                <a:solidFill>
                  <a:srgbClr val="6E7681"/>
                </a:solidFill>
                <a:latin typeface="Inter"/>
              </a:rPr>
              <a:t> </a:t>
            </a:r>
            <a:r>
              <a:rPr lang="en-US" sz="1300" b="0" i="0" dirty="0" err="1">
                <a:solidFill>
                  <a:srgbClr val="6E7681"/>
                </a:solidFill>
                <a:latin typeface="Inter"/>
              </a:rPr>
              <a:t>secara</a:t>
            </a:r>
            <a:r>
              <a:rPr lang="en-US" sz="1300" b="0" i="0" dirty="0">
                <a:solidFill>
                  <a:srgbClr val="6E7681"/>
                </a:solidFill>
                <a:latin typeface="Inter"/>
              </a:rPr>
              <a:t> </a:t>
            </a:r>
            <a:r>
              <a:rPr lang="en-US" sz="1300" dirty="0">
                <a:solidFill>
                  <a:srgbClr val="6E7681"/>
                </a:solidFill>
                <a:latin typeface="Inter"/>
              </a:rPr>
              <a:t>real-time</a:t>
            </a:r>
            <a:r>
              <a:rPr sz="1300" b="0" i="0" dirty="0">
                <a:solidFill>
                  <a:srgbClr val="6E7681"/>
                </a:solidFill>
                <a:latin typeface="Inter"/>
              </a:rPr>
              <a:t>, </a:t>
            </a:r>
            <a:r>
              <a:rPr sz="1300" b="0" i="0" dirty="0" err="1">
                <a:solidFill>
                  <a:srgbClr val="6E7681"/>
                </a:solidFill>
                <a:latin typeface="Inter"/>
              </a:rPr>
              <a:t>latensi</a:t>
            </a:r>
            <a:r>
              <a:rPr sz="1300" b="0" i="0" dirty="0">
                <a:solidFill>
                  <a:srgbClr val="6E7681"/>
                </a:solidFill>
                <a:latin typeface="Inter"/>
              </a:rPr>
              <a:t> 3–200 </a:t>
            </a:r>
            <a:r>
              <a:rPr sz="1300" b="0" i="0" dirty="0" err="1">
                <a:solidFill>
                  <a:srgbClr val="6E7681"/>
                </a:solidFill>
                <a:latin typeface="Inter"/>
              </a:rPr>
              <a:t>ms</a:t>
            </a:r>
            <a:endParaRPr sz="1300" b="0" i="0" dirty="0">
              <a:solidFill>
                <a:srgbClr val="6E7681"/>
              </a:solidFill>
              <a:latin typeface="Inter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39"/>
            <a:ext cx="6309360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5038343"/>
            <a:ext cx="5852160" cy="729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6E7681"/>
                </a:solidFill>
                <a:latin typeface="Inter"/>
              </a:rPr>
              <a:t>2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1049"/>
            <a:ext cx="58521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E7681"/>
                </a:solidFill>
                <a:latin typeface="Inter"/>
              </a:rPr>
              <a:t>teruji lintas provider: Azure (amd64) dan Oracle (arm64)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“Satu server dengan konfigurasi 12 vCPU dan 12 GB RAM mampu melayani 35 pengguna aktif secara stabil.”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24/31</a:t>
            </a:r>
          </a:p>
        </p:txBody>
      </p:sp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EBF28390-97E0-32E9-55A2-6F244A0800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67"/>
    </mc:Choice>
    <mc:Fallback>
      <p:transition spd="slow" advTm="53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JetBrains Mono"/>
              </a:rPr>
              <a:t>05 · HASIL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6EDF3"/>
                </a:solidFill>
                <a:latin typeface="Inter"/>
              </a:rPr>
              <a:t>Skalabel dan Teruji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6309360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20823"/>
            <a:ext cx="5852160" cy="729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6E7681"/>
                </a:solidFill>
                <a:latin typeface="Inter"/>
              </a:rPr>
              <a:t>35 pengguna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43529"/>
            <a:ext cx="5852160" cy="649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 dirty="0" err="1">
                <a:solidFill>
                  <a:srgbClr val="6E7681"/>
                </a:solidFill>
                <a:latin typeface="Inter"/>
              </a:rPr>
              <a:t>stabil</a:t>
            </a:r>
            <a:r>
              <a:rPr sz="1300" b="0" i="0" dirty="0">
                <a:solidFill>
                  <a:srgbClr val="6E7681"/>
                </a:solidFill>
                <a:latin typeface="Inter"/>
              </a:rPr>
              <a:t> pada 12 vCPU / 12 GB RAM</a:t>
            </a:r>
            <a:endParaRPr lang="en-US" sz="1300" b="0" i="0" dirty="0">
              <a:solidFill>
                <a:srgbClr val="6E7681"/>
              </a:solidFill>
              <a:latin typeface="Inter"/>
            </a:endParaRPr>
          </a:p>
          <a:p>
            <a:pPr algn="l">
              <a:lnSpc>
                <a:spcPct val="110000"/>
              </a:lnSpc>
            </a:pPr>
            <a:r>
              <a:rPr lang="en-US" sz="1300" b="0" i="0" dirty="0">
                <a:solidFill>
                  <a:srgbClr val="6E7681"/>
                </a:solidFill>
                <a:latin typeface="Inter"/>
              </a:rPr>
              <a:t>(masing-masing </a:t>
            </a:r>
            <a:r>
              <a:rPr lang="en-US" sz="1300" b="0" i="0" dirty="0" err="1">
                <a:solidFill>
                  <a:srgbClr val="6E7681"/>
                </a:solidFill>
                <a:latin typeface="Inter"/>
              </a:rPr>
              <a:t>pengguna</a:t>
            </a:r>
            <a:r>
              <a:rPr lang="en-US" sz="1300" b="0" i="0" dirty="0">
                <a:solidFill>
                  <a:srgbClr val="6E7681"/>
                </a:solidFill>
                <a:latin typeface="Inter"/>
              </a:rPr>
              <a:t> </a:t>
            </a:r>
            <a:r>
              <a:rPr lang="en-US" sz="1300" b="0" i="0" dirty="0" err="1">
                <a:solidFill>
                  <a:srgbClr val="6E7681"/>
                </a:solidFill>
                <a:latin typeface="Inter"/>
              </a:rPr>
              <a:t>menjalankan</a:t>
            </a:r>
            <a:r>
              <a:rPr lang="en-US" sz="1300" b="0" i="0" dirty="0">
                <a:solidFill>
                  <a:srgbClr val="6E7681"/>
                </a:solidFill>
                <a:latin typeface="Inter"/>
              </a:rPr>
              <a:t> 1 </a:t>
            </a:r>
            <a:r>
              <a:rPr lang="en-US" sz="1300" b="0" i="0" dirty="0" err="1">
                <a:solidFill>
                  <a:srgbClr val="6E7681"/>
                </a:solidFill>
                <a:latin typeface="Inter"/>
              </a:rPr>
              <a:t>MikroTik</a:t>
            </a:r>
            <a:r>
              <a:rPr lang="en-US" sz="1300" b="0" i="0" dirty="0">
                <a:solidFill>
                  <a:srgbClr val="6E7681"/>
                </a:solidFill>
                <a:latin typeface="Inter"/>
              </a:rPr>
              <a:t> dan 1 Linux)</a:t>
            </a:r>
          </a:p>
          <a:p>
            <a:pPr algn="l">
              <a:lnSpc>
                <a:spcPct val="110000"/>
              </a:lnSpc>
            </a:pPr>
            <a:endParaRPr lang="en-US" sz="1300" b="0" i="0" dirty="0">
              <a:solidFill>
                <a:srgbClr val="6E7681"/>
              </a:solidFill>
              <a:latin typeface="Inter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3383279"/>
            <a:ext cx="6309360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529583"/>
            <a:ext cx="5852160" cy="729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BBF24"/>
                </a:solidFill>
                <a:latin typeface="Inter"/>
              </a:rPr>
              <a:t>16 pengecekan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52289"/>
            <a:ext cx="5852160" cy="20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300" dirty="0" err="1">
                <a:solidFill>
                  <a:srgbClr val="8B949E"/>
                </a:solidFill>
                <a:latin typeface="Inter"/>
              </a:rPr>
              <a:t>mendeteksi</a:t>
            </a:r>
            <a:r>
              <a:rPr lang="en-US" sz="1300" dirty="0">
                <a:solidFill>
                  <a:srgbClr val="8B949E"/>
                </a:solidFill>
                <a:latin typeface="Inter"/>
              </a:rPr>
              <a:t> </a:t>
            </a:r>
            <a:r>
              <a:rPr lang="en-US" sz="1300" dirty="0" err="1">
                <a:solidFill>
                  <a:srgbClr val="8B949E"/>
                </a:solidFill>
                <a:latin typeface="Inter"/>
              </a:rPr>
              <a:t>perubahaan</a:t>
            </a:r>
            <a:r>
              <a:rPr lang="en-US" sz="1300" dirty="0">
                <a:solidFill>
                  <a:srgbClr val="8B949E"/>
                </a:solidFill>
                <a:latin typeface="Inter"/>
              </a:rPr>
              <a:t> </a:t>
            </a:r>
            <a:r>
              <a:rPr lang="en-US" sz="1300" dirty="0" err="1">
                <a:solidFill>
                  <a:srgbClr val="8B949E"/>
                </a:solidFill>
                <a:latin typeface="Inter"/>
              </a:rPr>
              <a:t>secara</a:t>
            </a:r>
            <a:r>
              <a:rPr lang="en-US" sz="1300" dirty="0">
                <a:solidFill>
                  <a:srgbClr val="8B949E"/>
                </a:solidFill>
                <a:latin typeface="Inter"/>
              </a:rPr>
              <a:t> </a:t>
            </a:r>
            <a:r>
              <a:rPr lang="en-US" sz="1300" dirty="0" err="1">
                <a:solidFill>
                  <a:srgbClr val="8B949E"/>
                </a:solidFill>
                <a:latin typeface="Inter"/>
              </a:rPr>
              <a:t>realtime</a:t>
            </a:r>
            <a:r>
              <a:rPr lang="en-US" sz="1300" dirty="0">
                <a:solidFill>
                  <a:srgbClr val="8B949E"/>
                </a:solidFill>
                <a:latin typeface="Inter"/>
              </a:rPr>
              <a:t>,</a:t>
            </a:r>
            <a:r>
              <a:rPr sz="1300" b="0" i="0" dirty="0">
                <a:solidFill>
                  <a:srgbClr val="8B949E"/>
                </a:solidFill>
                <a:latin typeface="Inter"/>
              </a:rPr>
              <a:t> </a:t>
            </a:r>
            <a:r>
              <a:rPr sz="1300" b="0" i="0" dirty="0" err="1">
                <a:solidFill>
                  <a:srgbClr val="8B949E"/>
                </a:solidFill>
                <a:latin typeface="Inter"/>
              </a:rPr>
              <a:t>latensi</a:t>
            </a:r>
            <a:r>
              <a:rPr sz="1300" b="0" i="0" dirty="0">
                <a:solidFill>
                  <a:srgbClr val="8B949E"/>
                </a:solidFill>
                <a:latin typeface="Inter"/>
              </a:rPr>
              <a:t> 3–200 </a:t>
            </a:r>
            <a:r>
              <a:rPr sz="1300" b="0" i="0" dirty="0" err="1">
                <a:solidFill>
                  <a:srgbClr val="8B949E"/>
                </a:solidFill>
                <a:latin typeface="Inter"/>
              </a:rPr>
              <a:t>ms</a:t>
            </a:r>
            <a:endParaRPr sz="1300" b="0" i="0" dirty="0">
              <a:solidFill>
                <a:srgbClr val="8B949E"/>
              </a:solidFill>
              <a:latin typeface="Inter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39"/>
            <a:ext cx="6309360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5038343"/>
            <a:ext cx="5852160" cy="729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A78BFA"/>
                </a:solidFill>
                <a:latin typeface="Inter"/>
              </a:rPr>
              <a:t>2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1049"/>
            <a:ext cx="58521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B949E"/>
                </a:solidFill>
                <a:latin typeface="Inter"/>
              </a:rPr>
              <a:t>teruji lintas provider: Azure (amd64) dan Oracle (arm64)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“Sebanyak 16 pengecekan terdeteksi secara otomatis, dan platform ini juga terbukti dapat berjalan lintas cloud, yaitu Azure dan Oracle secara bersamaan.”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25/31</a:t>
            </a:r>
          </a:p>
        </p:txBody>
      </p:sp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F6B11075-3AFE-3DDE-2E39-5604E700F9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71"/>
    </mc:Choice>
    <mc:Fallback>
      <p:transition spd="slow" advTm="54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78BFA"/>
                </a:solidFill>
                <a:latin typeface="JetBrains Mono"/>
              </a:rPr>
              <a:t>06 · 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6EDF3"/>
                </a:solidFill>
                <a:latin typeface="Inter"/>
              </a:rPr>
              <a:t>vLab Menjawab</a:t>
            </a:r>
          </a:p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6EDF3"/>
                </a:solidFill>
                <a:latin typeface="Inter"/>
              </a:rPr>
              <a:t>Ketiga Masalah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6309360" cy="1371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496312"/>
            <a:ext cx="5760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8B949E"/>
                </a:solidFill>
                <a:latin typeface="Inter"/>
              </a:rPr>
              <a:t>Lab fisik mahal dan sulit diskalakan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90088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4D399"/>
                </a:solidFill>
                <a:latin typeface="Inter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90088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6EDF3"/>
                </a:solidFill>
                <a:latin typeface="Inter"/>
              </a:rPr>
              <a:t>Container jauh lebih hemat storage; kapasitas dapat ditingkatkan dengan menambahkan worker node baru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840480"/>
            <a:ext cx="6309360" cy="1371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4005072"/>
            <a:ext cx="5760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8B949E"/>
                </a:solidFill>
                <a:latin typeface="Inter"/>
              </a:rPr>
              <a:t>Evaluasi manual menyita waktu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98848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4D399"/>
                </a:solidFill>
                <a:latin typeface="Inte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98848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6EDF3"/>
                </a:solidFill>
                <a:latin typeface="Inter"/>
              </a:rPr>
              <a:t>Editor topologi visual dan evaluasi otomatis berbasis event yang real-time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349240"/>
            <a:ext cx="6309360" cy="1371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513832"/>
            <a:ext cx="5760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6E7681"/>
                </a:solidFill>
                <a:latin typeface="Inter"/>
              </a:rPr>
              <a:t>Simulator terkunci vendor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007608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6E7681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007608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E7681"/>
                </a:solidFill>
                <a:latin typeface="Inter"/>
              </a:rPr>
              <a:t>Berbasis Containerlab yang multi-vendor, fokus awal pada MikroTik dan Linux yang relevan dengan pasar Indonesia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“Permasalahan lab fisik yang mahal dan evaluasi manual yang memakan waktu terjawab melalui pendekatan container dan evaluasi otomatis.”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26/31</a:t>
            </a:r>
          </a:p>
        </p:txBody>
      </p:sp>
      <p:pic>
        <p:nvPicPr>
          <p:cNvPr id="22" name="Audio 21">
            <a:hlinkClick r:id="" action="ppaction://media"/>
            <a:extLst>
              <a:ext uri="{FF2B5EF4-FFF2-40B4-BE49-F238E27FC236}">
                <a16:creationId xmlns:a16="http://schemas.microsoft.com/office/drawing/2014/main" id="{62B6D4DE-0635-A712-A22C-DC78E5418F7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83"/>
    </mc:Choice>
    <mc:Fallback>
      <p:transition spd="slow" advTm="45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78BFA"/>
                </a:solidFill>
                <a:latin typeface="JetBrains Mono"/>
              </a:rPr>
              <a:t>06 · 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6EDF3"/>
                </a:solidFill>
                <a:latin typeface="Inter"/>
              </a:rPr>
              <a:t>vLab Menjawab</a:t>
            </a:r>
          </a:p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6EDF3"/>
                </a:solidFill>
                <a:latin typeface="Inter"/>
              </a:rPr>
              <a:t>Ketiga Masalah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6309360" cy="1371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496312"/>
            <a:ext cx="5760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6E7681"/>
                </a:solidFill>
                <a:latin typeface="Inter"/>
              </a:rPr>
              <a:t>Lab fisik mahal dan sulit diskalakan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90088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6E7681"/>
                </a:solidFill>
                <a:latin typeface="Inter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90088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E7681"/>
                </a:solidFill>
                <a:latin typeface="Inter"/>
              </a:rPr>
              <a:t>Container jauh lebih hemat storage; kapasitas dapat ditingkatkan dengan menambahkan worker node baru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840480"/>
            <a:ext cx="6309360" cy="1371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4005072"/>
            <a:ext cx="5760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6E7681"/>
                </a:solidFill>
                <a:latin typeface="Inter"/>
              </a:rPr>
              <a:t>Evaluasi manual menyita waktu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98848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6E7681"/>
                </a:solidFill>
                <a:latin typeface="Inte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98848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E7681"/>
                </a:solidFill>
                <a:latin typeface="Inter"/>
              </a:rPr>
              <a:t>Editor topologi visual dan evaluasi otomatis berbasis event yang real-time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349240"/>
            <a:ext cx="6309360" cy="1371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513832"/>
            <a:ext cx="5760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8B949E"/>
                </a:solidFill>
                <a:latin typeface="Inter"/>
              </a:rPr>
              <a:t>Simulator terkunci vendor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007608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4D399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007608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6EDF3"/>
                </a:solidFill>
                <a:latin typeface="Inter"/>
              </a:rPr>
              <a:t>Berbasis Containerlab yang multi-vendor, fokus awal pada MikroTik dan Linux yang relevan dengan pasar Indonesia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“Vendor lock-in diatasi lewat Containerlab yang multi-vendor, dengan fokus awal pada MikroTik dan Linux yang relevan dengan pasar Indonesia.”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27/31</a:t>
            </a:r>
          </a:p>
        </p:txBody>
      </p:sp>
      <p:pic>
        <p:nvPicPr>
          <p:cNvPr id="22" name="Audio 21">
            <a:hlinkClick r:id="" action="ppaction://media"/>
            <a:extLst>
              <a:ext uri="{FF2B5EF4-FFF2-40B4-BE49-F238E27FC236}">
                <a16:creationId xmlns:a16="http://schemas.microsoft.com/office/drawing/2014/main" id="{D40ECDB8-CDD7-B4AC-0B33-5EAE266CD98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00"/>
    </mc:Choice>
    <mc:Fallback>
      <p:transition spd="slow" advTm="3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BF24"/>
                </a:solidFill>
                <a:latin typeface="JetBrains Mono"/>
              </a:rPr>
              <a:t>07 · SARAN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6EDF3"/>
                </a:solidFill>
                <a:latin typeface="Inter"/>
              </a:rPr>
              <a:t>Arah Pengembangan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075687"/>
            <a:ext cx="128016" cy="106070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05739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EDF3"/>
                </a:solidFill>
                <a:latin typeface="Inter"/>
              </a:rPr>
              <a:t>Pengujian Lebih Luas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41447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B949E"/>
                </a:solidFill>
                <a:latin typeface="Inter"/>
              </a:rPr>
              <a:t>Melibatkan peran instruktur dan jumlah peserta yang lebih representatif.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74719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3675887"/>
            <a:ext cx="128016" cy="1060704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65759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6E7681"/>
                </a:solidFill>
                <a:latin typeface="Inter"/>
              </a:rPr>
              <a:t>Modul Praktikum Lanjutan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41647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E7681"/>
                </a:solidFill>
                <a:latin typeface="Inter"/>
              </a:rPr>
              <a:t>Topik seperti firewall, VLAN, VPN, dan skenario troubleshooting yang lebih kompleks.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074919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5276087"/>
            <a:ext cx="128016" cy="1060704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525779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6E7681"/>
                </a:solidFill>
                <a:latin typeface="Inter"/>
              </a:rPr>
              <a:t>Kriteria Penilaian Kustom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641847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E7681"/>
                </a:solidFill>
                <a:latin typeface="Inter"/>
              </a:rPr>
              <a:t>Antarmuka berbasis web agar instruktur dapat membuat kriteria evaluasi sendiri tanpa mengubah kode sumber.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“Ke depan, pengujian penerimaan pengguna akan diperluas dengan melibatkan peran instruktur dan jumlah peserta yang lebih representatif.”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28/31</a:t>
            </a:r>
          </a:p>
        </p:txBody>
      </p:sp>
      <p:pic>
        <p:nvPicPr>
          <p:cNvPr id="22" name="Audio 21">
            <a:hlinkClick r:id="" action="ppaction://media"/>
            <a:extLst>
              <a:ext uri="{FF2B5EF4-FFF2-40B4-BE49-F238E27FC236}">
                <a16:creationId xmlns:a16="http://schemas.microsoft.com/office/drawing/2014/main" id="{B1DFEB5A-80D5-241C-C583-31FE4D4436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60"/>
    </mc:Choice>
    <mc:Fallback>
      <p:transition spd="slow" advTm="44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BF24"/>
                </a:solidFill>
                <a:latin typeface="JetBrains Mono"/>
              </a:rPr>
              <a:t>07 · SARAN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6EDF3"/>
                </a:solidFill>
                <a:latin typeface="Inter"/>
              </a:rPr>
              <a:t>Arah Pengembangan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075687"/>
            <a:ext cx="128016" cy="1060704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05739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6E7681"/>
                </a:solidFill>
                <a:latin typeface="Inter"/>
              </a:rPr>
              <a:t>Pengujian Lebih Luas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41447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E7681"/>
                </a:solidFill>
                <a:latin typeface="Inter"/>
              </a:rPr>
              <a:t>Melibatkan peran instruktur dan jumlah peserta yang lebih representatif.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74719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3675887"/>
            <a:ext cx="128016" cy="106070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65759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EDF3"/>
                </a:solidFill>
                <a:latin typeface="Inter"/>
              </a:rPr>
              <a:t>Modul Praktikum Lanjutan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41647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B949E"/>
                </a:solidFill>
                <a:latin typeface="Inter"/>
              </a:rPr>
              <a:t>Topik seperti firewall, VLAN, VPN, dan skenario troubleshooting yang lebih kompleks.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074919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5276087"/>
            <a:ext cx="128016" cy="1060704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525779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6E7681"/>
                </a:solidFill>
                <a:latin typeface="Inter"/>
              </a:rPr>
              <a:t>Kriteria Penilaian Kustom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641847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E7681"/>
                </a:solidFill>
                <a:latin typeface="Inter"/>
              </a:rPr>
              <a:t>Antarmuka berbasis web agar instruktur dapat membuat kriteria evaluasi sendiri tanpa mengubah kode sumber.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“Modul praktikum juga akan diperluas ke topik lanjutan, seperti firewall, VLAN, dan VPN.”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29/31</a:t>
            </a:r>
          </a:p>
        </p:txBody>
      </p:sp>
      <p:pic>
        <p:nvPicPr>
          <p:cNvPr id="22" name="Audio 21">
            <a:hlinkClick r:id="" action="ppaction://media"/>
            <a:extLst>
              <a:ext uri="{FF2B5EF4-FFF2-40B4-BE49-F238E27FC236}">
                <a16:creationId xmlns:a16="http://schemas.microsoft.com/office/drawing/2014/main" id="{5AF23641-620C-DDE1-0E5A-B1D88E3A95B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56"/>
    </mc:Choice>
    <mc:Fallback>
      <p:transition spd="slow" advTm="28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BF24"/>
                </a:solidFill>
                <a:latin typeface="JetBrains Mono"/>
              </a:rPr>
              <a:t>07 · SARAN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6EDF3"/>
                </a:solidFill>
                <a:latin typeface="Inter"/>
              </a:rPr>
              <a:t>Arah Pengembangan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075687"/>
            <a:ext cx="128016" cy="1060704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05739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6E7681"/>
                </a:solidFill>
                <a:latin typeface="Inter"/>
              </a:rPr>
              <a:t>Pengujian Lebih Luas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41447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E7681"/>
                </a:solidFill>
                <a:latin typeface="Inter"/>
              </a:rPr>
              <a:t>Melibatkan peran instruktur dan jumlah peserta yang lebih representatif.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74719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3675887"/>
            <a:ext cx="128016" cy="1060704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65759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6E7681"/>
                </a:solidFill>
                <a:latin typeface="Inter"/>
              </a:rPr>
              <a:t>Modul Praktikum Lanjutan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41647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E7681"/>
                </a:solidFill>
                <a:latin typeface="Inter"/>
              </a:rPr>
              <a:t>Topik seperti firewall, VLAN, VPN, dan skenario troubleshooting yang lebih kompleks.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074919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5276087"/>
            <a:ext cx="128016" cy="106070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525779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EDF3"/>
                </a:solidFill>
                <a:latin typeface="Inter"/>
              </a:rPr>
              <a:t>Kriteria Penilaian Kustom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641847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B949E"/>
                </a:solidFill>
                <a:latin typeface="Inter"/>
              </a:rPr>
              <a:t>Antarmuka berbasis web agar instruktur dapat membuat kriteria evaluasi sendiri tanpa mengubah kode sumber.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“Selain itu, akan dikembangkan antarmuka kriteria penilaian berbasis web, agar instruktur dapat membuat kriteria kustom tanpa mengubah kode sumber.”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30/31</a:t>
            </a:r>
          </a:p>
        </p:txBody>
      </p:sp>
      <p:pic>
        <p:nvPicPr>
          <p:cNvPr id="22" name="Audio 21">
            <a:hlinkClick r:id="" action="ppaction://media"/>
            <a:extLst>
              <a:ext uri="{FF2B5EF4-FFF2-40B4-BE49-F238E27FC236}">
                <a16:creationId xmlns:a16="http://schemas.microsoft.com/office/drawing/2014/main" id="{06DCEA4E-E29F-19A3-0CBC-24094D192B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77"/>
    </mc:Choice>
    <mc:Fallback>
      <p:transition spd="slow" advTm="37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146304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6EDF3"/>
                </a:solidFill>
                <a:latin typeface="Inter"/>
              </a:rPr>
              <a:t>Realistis. Otomatis.</a:t>
            </a:r>
          </a:p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6EDF3"/>
                </a:solidFill>
                <a:latin typeface="Inter"/>
              </a:rPr>
              <a:t>Skalabel.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34640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8B949E"/>
                </a:solidFill>
                <a:latin typeface="Inter"/>
              </a:rPr>
              <a:t>vLab dikembangkan sebagai penelitian Tugas Akhir di Politeknik Elektronika Negeri Surabaya.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931920"/>
            <a:ext cx="6309360" cy="1600200"/>
          </a:xfrm>
          <a:prstGeom prst="roundRect">
            <a:avLst>
              <a:gd name="adj" fmla="val 6000"/>
            </a:avLst>
          </a:prstGeom>
          <a:solidFill>
            <a:srgbClr val="1C23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142232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4D399"/>
                </a:solidFill>
                <a:latin typeface="Inter"/>
              </a:rPr>
              <a:t>Terima Kasih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1772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6EDF3"/>
                </a:solidFill>
                <a:latin typeface="Inter"/>
              </a:rPr>
              <a:t>Wisnu Agung Pambudi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10328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49E"/>
                </a:solidFill>
                <a:latin typeface="JetBrains Mono"/>
              </a:rPr>
              <a:t>NRP 3122600048 · Teknik Informatika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93792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49E"/>
                </a:solidFill>
                <a:latin typeface="Inter"/>
              </a:rPr>
              <a:t>Pembimbing: Dr. Idris Winarno, S.ST., M.Kom. · Fitri Setyorini, S.T., M.Sc.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0" y="7589520"/>
            <a:ext cx="7315200" cy="1554480"/>
          </a:xfrm>
          <a:prstGeom prst="roundRect">
            <a:avLst>
              <a:gd name="adj" fmla="val 0"/>
            </a:avLst>
          </a:prstGeom>
          <a:solidFill>
            <a:srgbClr val="1C2333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7589520"/>
            <a:ext cx="73152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7790688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E6EDF3"/>
                </a:solidFill>
                <a:latin typeface="Inter"/>
              </a:rPr>
              <a:t>“Demikian pemaparan mengenai vLab. Terima kasih.”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885139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681"/>
                </a:solidFill>
                <a:latin typeface="JetBrains Mono"/>
              </a:rPr>
              <a:t>vLab · 31/31</a:t>
            </a:r>
          </a:p>
        </p:txBody>
      </p:sp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C80B2ACB-D71E-354B-7173-55A58699A15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0000" t="-130000" r="-130000" b="-130000"/>
          <a:stretch>
            <a:fillRect/>
          </a:stretch>
        </p:blipFill>
        <p:spPr>
          <a:xfrm>
            <a:off x="5032858" y="6861658"/>
            <a:ext cx="2194560" cy="219456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65"/>
    </mc:Choice>
    <mc:Fallback>
      <p:transition spd="slow" advTm="27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2072</Words>
  <Application>Microsoft Office PowerPoint</Application>
  <PresentationFormat>Custom</PresentationFormat>
  <Paragraphs>299</Paragraphs>
  <Slides>31</Slides>
  <Notes>0</Notes>
  <HiddenSlides>0</HiddenSlides>
  <MMClips>38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Inter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Wisnu Agung Pambudi</cp:lastModifiedBy>
  <cp:revision>10</cp:revision>
  <dcterms:created xsi:type="dcterms:W3CDTF">2013-01-27T09:14:16Z</dcterms:created>
  <dcterms:modified xsi:type="dcterms:W3CDTF">2026-07-09T10:15:27Z</dcterms:modified>
  <cp:category/>
</cp:coreProperties>
</file>